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mbria Bold" charset="1" panose="02040803050406030204"/>
      <p:regular r:id="rId15"/>
    </p:embeddedFont>
    <p:embeddedFont>
      <p:font typeface="Calibri (MS)" charset="1" panose="020F0502020204030204"/>
      <p:regular r:id="rId16"/>
    </p:embeddedFont>
    <p:embeddedFont>
      <p:font typeface="Cambria" charset="1" panose="02040503050406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del proyecto APT: Plataforma Integral para la Gestión de Transporte de Personal.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Contexto: empresas de transporte de personal de la Región de Los Lagos. El proyecto digitaliza y centraliza planificación, control de asistencia y consolidación de información.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Tres dolores del cliente y la respuesta de la plataforma a cada uno: centralización, asistencia efectiva con QR y reportes/planillas automáticas.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objetivo general se apoya en tres ejes: planificación de rutas, asistencia efectiva con QR y centralización de la información.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Siete objetivos específicos: gestión centralizada, planificación de rutas, control por QR, plataforma web con dashboard, app móvil, reportes/planillas mensuales y autenticación con control de acceso.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6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6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5943" y="-12697"/>
            <a:ext cx="6334763" cy="10312403"/>
            <a:chOff x="0" y="0"/>
            <a:chExt cx="84463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638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8446389">
                  <a:moveTo>
                    <a:pt x="0" y="0"/>
                  </a:moveTo>
                  <a:lnTo>
                    <a:pt x="8446389" y="0"/>
                  </a:lnTo>
                  <a:lnTo>
                    <a:pt x="844638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968602" y="3001642"/>
            <a:ext cx="4329427" cy="4329427"/>
            <a:chOff x="0" y="0"/>
            <a:chExt cx="5772569" cy="57725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72531" cy="5772531"/>
            </a:xfrm>
            <a:custGeom>
              <a:avLst/>
              <a:gdLst/>
              <a:ahLst/>
              <a:cxnLst/>
              <a:rect r="r" b="b" t="t" l="l"/>
              <a:pathLst>
                <a:path h="5772531" w="5772531">
                  <a:moveTo>
                    <a:pt x="0" y="2886329"/>
                  </a:moveTo>
                  <a:cubicBezTo>
                    <a:pt x="0" y="1292225"/>
                    <a:pt x="1292225" y="0"/>
                    <a:pt x="2886329" y="0"/>
                  </a:cubicBezTo>
                  <a:cubicBezTo>
                    <a:pt x="4480433" y="0"/>
                    <a:pt x="5772531" y="1292225"/>
                    <a:pt x="5772531" y="2886329"/>
                  </a:cubicBezTo>
                  <a:cubicBezTo>
                    <a:pt x="5772531" y="4480433"/>
                    <a:pt x="4480306" y="5772531"/>
                    <a:pt x="2886329" y="5772531"/>
                  </a:cubicBezTo>
                  <a:cubicBezTo>
                    <a:pt x="1292352" y="5772531"/>
                    <a:pt x="0" y="4480306"/>
                    <a:pt x="0" y="2886329"/>
                  </a:cubicBezTo>
                  <a:close/>
                </a:path>
              </a:pathLst>
            </a:custGeom>
            <a:solidFill>
              <a:srgbClr val="14213D">
                <a:alpha val="35686"/>
              </a:srgbClr>
            </a:solidFill>
            <a:ln w="31750" cap="sq">
              <a:solidFill>
                <a:srgbClr val="FF8C42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209776" y="4242816"/>
            <a:ext cx="1828800" cy="1828800"/>
            <a:chOff x="0" y="0"/>
            <a:chExt cx="2438400" cy="24384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097280"/>
            <a:ext cx="10607040" cy="548640"/>
            <a:chOff x="0" y="0"/>
            <a:chExt cx="14142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14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PORTAFOLIO DE TÍTULO  ·  INGENIERÍA EN INFORMÁTICA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2175510"/>
            <a:ext cx="10607040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Plataforma Integral para la Gestión de Transporte de Personal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1703" y="6022343"/>
            <a:ext cx="6791963" cy="793499"/>
            <a:chOff x="0" y="0"/>
            <a:chExt cx="9055951" cy="1057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5862" cy="1057910"/>
            </a:xfrm>
            <a:custGeom>
              <a:avLst/>
              <a:gdLst/>
              <a:ahLst/>
              <a:cxnLst/>
              <a:rect r="r" b="b" t="t" l="l"/>
              <a:pathLst>
                <a:path h="1057910" w="9055862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8526907" y="0"/>
                  </a:lnTo>
                  <a:cubicBezTo>
                    <a:pt x="8819007" y="0"/>
                    <a:pt x="9055862" y="236855"/>
                    <a:pt x="9055862" y="528955"/>
                  </a:cubicBezTo>
                  <a:cubicBezTo>
                    <a:pt x="9055862" y="821055"/>
                    <a:pt x="8819007" y="1057910"/>
                    <a:pt x="8526907" y="1057910"/>
                  </a:cubicBez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035040"/>
            <a:ext cx="6766560" cy="768096"/>
            <a:chOff x="0" y="0"/>
            <a:chExt cx="902208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53" r="0" b="-1216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220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2 — Desarrollo Proyecto APT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046720"/>
            <a:ext cx="10607040" cy="640080"/>
            <a:chOff x="0" y="0"/>
            <a:chExt cx="141427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42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41427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Angelina Mendoza  ·  Paloma Tamayo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8741664"/>
            <a:ext cx="10607040" cy="548640"/>
            <a:chOff x="0" y="0"/>
            <a:chExt cx="141427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14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AA8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— Sede Puerto Montt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46336"/>
            <a:ext cx="10972800" cy="457200"/>
            <a:chOff x="0" y="0"/>
            <a:chExt cx="146304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2 — Desarrollo Proyecto APT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457200"/>
            <a:chOff x="0" y="0"/>
            <a:chExt cx="21945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EL PROYECTO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051179"/>
            <a:ext cx="164592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14213D"/>
                </a:solidFill>
                <a:latin typeface="Cambria Bold"/>
                <a:ea typeface="Cambria Bold"/>
                <a:cs typeface="Cambria Bold"/>
                <a:sym typeface="Cambria Bold"/>
              </a:rPr>
              <a:t>Qué estamos construyendo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686050"/>
            <a:ext cx="7863840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4213D"/>
                </a:solidFill>
                <a:latin typeface="Calibri (MS)"/>
                <a:ea typeface="Calibri (MS)"/>
                <a:cs typeface="Calibri (MS)"/>
                <a:sym typeface="Calibri (MS)"/>
              </a:rPr>
              <a:t>Una plataforma web y móvil que centraliza la operación del transporte de personal de empresas de la Región de Los Lagos: empresas clientes, pasajeros, conductores, vehículos, rutas, horarios, servicios y asistencias.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17355" y="2733675"/>
            <a:ext cx="3859530" cy="2213610"/>
            <a:chOff x="0" y="0"/>
            <a:chExt cx="5146040" cy="2951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60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5146040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4900041" y="0"/>
                  </a:lnTo>
                  <a:cubicBezTo>
                    <a:pt x="5035931" y="0"/>
                    <a:pt x="5146040" y="110109"/>
                    <a:pt x="5146040" y="245999"/>
                  </a:cubicBezTo>
                  <a:lnTo>
                    <a:pt x="5146040" y="2705481"/>
                  </a:lnTo>
                  <a:cubicBezTo>
                    <a:pt x="5146040" y="2841371"/>
                    <a:pt x="5035931" y="2951480"/>
                    <a:pt x="4900041" y="2951480"/>
                  </a:cubicBezTo>
                  <a:lnTo>
                    <a:pt x="245999" y="2951480"/>
                  </a:lnTo>
                  <a:cubicBezTo>
                    <a:pt x="110109" y="2951480"/>
                    <a:pt x="0" y="2841371"/>
                    <a:pt x="0" y="2705481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33639" y="2949959"/>
            <a:ext cx="756923" cy="756923"/>
            <a:chOff x="0" y="0"/>
            <a:chExt cx="1009231" cy="100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710928" y="3127248"/>
            <a:ext cx="402336" cy="402336"/>
            <a:chOff x="0" y="0"/>
            <a:chExt cx="536448" cy="53644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24160" y="2962656"/>
            <a:ext cx="2651760" cy="731520"/>
            <a:chOff x="0" y="0"/>
            <a:chExt cx="353568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5680" cy="975360"/>
            </a:xfrm>
            <a:custGeom>
              <a:avLst/>
              <a:gdLst/>
              <a:ahLst/>
              <a:cxnLst/>
              <a:rect r="r" b="b" t="t" l="l"/>
              <a:pathLst>
                <a:path h="9753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3535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Plataforma web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46336" y="3802380"/>
            <a:ext cx="3438144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A78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Gestión administrativa y planificación de rutas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23595" y="2733675"/>
            <a:ext cx="3859530" cy="2213610"/>
            <a:chOff x="0" y="0"/>
            <a:chExt cx="5146040" cy="2951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60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5146040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4900041" y="0"/>
                  </a:lnTo>
                  <a:cubicBezTo>
                    <a:pt x="5035931" y="0"/>
                    <a:pt x="5146040" y="110109"/>
                    <a:pt x="5146040" y="245999"/>
                  </a:cubicBezTo>
                  <a:lnTo>
                    <a:pt x="5146040" y="2705481"/>
                  </a:lnTo>
                  <a:cubicBezTo>
                    <a:pt x="5146040" y="2841371"/>
                    <a:pt x="5035931" y="2951480"/>
                    <a:pt x="4900041" y="2951480"/>
                  </a:cubicBezTo>
                  <a:lnTo>
                    <a:pt x="245999" y="2951480"/>
                  </a:lnTo>
                  <a:cubicBezTo>
                    <a:pt x="110109" y="2951480"/>
                    <a:pt x="0" y="2841371"/>
                    <a:pt x="0" y="2705481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39879" y="2949959"/>
            <a:ext cx="756923" cy="756923"/>
            <a:chOff x="0" y="0"/>
            <a:chExt cx="1009231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917168" y="3127248"/>
            <a:ext cx="402336" cy="402336"/>
            <a:chOff x="0" y="0"/>
            <a:chExt cx="536448" cy="53644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30400" y="2962656"/>
            <a:ext cx="2651760" cy="731520"/>
            <a:chOff x="0" y="0"/>
            <a:chExt cx="35356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35680" cy="975360"/>
            </a:xfrm>
            <a:custGeom>
              <a:avLst/>
              <a:gdLst/>
              <a:ahLst/>
              <a:cxnLst/>
              <a:rect r="r" b="b" t="t" l="l"/>
              <a:pathLst>
                <a:path h="9753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535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752576" y="3802380"/>
            <a:ext cx="3438144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A78"/>
                </a:solidFill>
                <a:latin typeface="Calibri (MS)"/>
                <a:ea typeface="Calibri (MS)"/>
                <a:cs typeface="Calibri (MS)"/>
                <a:sym typeface="Calibri (MS)"/>
              </a:rPr>
              <a:t>Indicadores operacionales y reportes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17355" y="5202555"/>
            <a:ext cx="3859530" cy="2213610"/>
            <a:chOff x="0" y="0"/>
            <a:chExt cx="5146040" cy="2951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460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5146040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4900041" y="0"/>
                  </a:lnTo>
                  <a:cubicBezTo>
                    <a:pt x="5035931" y="0"/>
                    <a:pt x="5146040" y="110109"/>
                    <a:pt x="5146040" y="245999"/>
                  </a:cubicBezTo>
                  <a:lnTo>
                    <a:pt x="5146040" y="2705481"/>
                  </a:lnTo>
                  <a:cubicBezTo>
                    <a:pt x="5146040" y="2841371"/>
                    <a:pt x="5035931" y="2951480"/>
                    <a:pt x="4900041" y="2951480"/>
                  </a:cubicBezTo>
                  <a:lnTo>
                    <a:pt x="245999" y="2951480"/>
                  </a:lnTo>
                  <a:cubicBezTo>
                    <a:pt x="110109" y="2951480"/>
                    <a:pt x="0" y="2841371"/>
                    <a:pt x="0" y="2705481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33639" y="5418839"/>
            <a:ext cx="756923" cy="756923"/>
            <a:chOff x="0" y="0"/>
            <a:chExt cx="1009231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10928" y="5596128"/>
            <a:ext cx="402336" cy="402336"/>
            <a:chOff x="0" y="0"/>
            <a:chExt cx="536448" cy="536448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424160" y="5431536"/>
            <a:ext cx="2651760" cy="731520"/>
            <a:chOff x="0" y="0"/>
            <a:chExt cx="353568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5680" cy="975360"/>
            </a:xfrm>
            <a:custGeom>
              <a:avLst/>
              <a:gdLst/>
              <a:ahLst/>
              <a:cxnLst/>
              <a:rect r="r" b="b" t="t" l="l"/>
              <a:pathLst>
                <a:path h="9753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535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móvil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46336" y="6271260"/>
            <a:ext cx="3438144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A78"/>
                </a:solidFill>
                <a:latin typeface="Calibri (MS)"/>
                <a:ea typeface="Calibri (MS)"/>
                <a:cs typeface="Calibri (MS)"/>
                <a:sym typeface="Calibri (MS)"/>
              </a:rPr>
              <a:t>Para conductores y pasajeros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523595" y="5202555"/>
            <a:ext cx="3859530" cy="2213610"/>
            <a:chOff x="0" y="0"/>
            <a:chExt cx="5146040" cy="2951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460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5146040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4900041" y="0"/>
                  </a:lnTo>
                  <a:cubicBezTo>
                    <a:pt x="5035931" y="0"/>
                    <a:pt x="5146040" y="110109"/>
                    <a:pt x="5146040" y="245999"/>
                  </a:cubicBezTo>
                  <a:lnTo>
                    <a:pt x="5146040" y="2705481"/>
                  </a:lnTo>
                  <a:cubicBezTo>
                    <a:pt x="5146040" y="2841371"/>
                    <a:pt x="5035931" y="2951480"/>
                    <a:pt x="4900041" y="2951480"/>
                  </a:cubicBezTo>
                  <a:lnTo>
                    <a:pt x="245999" y="2951480"/>
                  </a:lnTo>
                  <a:cubicBezTo>
                    <a:pt x="110109" y="2951480"/>
                    <a:pt x="0" y="2841371"/>
                    <a:pt x="0" y="2705481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739879" y="5418839"/>
            <a:ext cx="756923" cy="756923"/>
            <a:chOff x="0" y="0"/>
            <a:chExt cx="1009231" cy="1009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17168" y="5596128"/>
            <a:ext cx="402336" cy="402336"/>
            <a:chOff x="0" y="0"/>
            <a:chExt cx="536448" cy="536448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30400" y="5431536"/>
            <a:ext cx="2651760" cy="731520"/>
            <a:chOff x="0" y="0"/>
            <a:chExt cx="353568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35680" cy="975360"/>
            </a:xfrm>
            <a:custGeom>
              <a:avLst/>
              <a:gdLst/>
              <a:ahLst/>
              <a:cxnLst/>
              <a:rect r="r" b="b" t="t" l="l"/>
              <a:pathLst>
                <a:path h="9753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3535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Asistencia con QR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3752576" y="6271260"/>
            <a:ext cx="3438144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A78"/>
                </a:solidFill>
                <a:latin typeface="Calibri (MS)"/>
                <a:ea typeface="Calibri (MS)"/>
                <a:cs typeface="Calibri (MS)"/>
                <a:sym typeface="Calibri (MS)"/>
              </a:rPr>
              <a:t>Generado por el conductor, escaneado por el pasajero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04875" y="7854315"/>
            <a:ext cx="16478250" cy="1207770"/>
            <a:chOff x="0" y="0"/>
            <a:chExt cx="21971000" cy="1610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71000" cy="1610360"/>
            </a:xfrm>
            <a:custGeom>
              <a:avLst/>
              <a:gdLst/>
              <a:ahLst/>
              <a:cxnLst/>
              <a:rect r="r" b="b" t="t" l="l"/>
              <a:pathLst>
                <a:path h="1610360" w="21971000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21723223" y="0"/>
                  </a:lnTo>
                  <a:cubicBezTo>
                    <a:pt x="21860129" y="0"/>
                    <a:pt x="21971000" y="110871"/>
                    <a:pt x="21971000" y="247777"/>
                  </a:cubicBezTo>
                  <a:lnTo>
                    <a:pt x="21971000" y="1362583"/>
                  </a:lnTo>
                  <a:cubicBezTo>
                    <a:pt x="21971000" y="1499362"/>
                    <a:pt x="21860129" y="1610360"/>
                    <a:pt x="21723223" y="1610360"/>
                  </a:cubicBezTo>
                  <a:lnTo>
                    <a:pt x="247777" y="1610360"/>
                  </a:lnTo>
                  <a:cubicBezTo>
                    <a:pt x="110871" y="1610360"/>
                    <a:pt x="0" y="1499489"/>
                    <a:pt x="0" y="1362583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76023" y="8034023"/>
            <a:ext cx="848363" cy="848363"/>
            <a:chOff x="0" y="0"/>
            <a:chExt cx="1131151" cy="11311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71600" y="8229600"/>
            <a:ext cx="457200" cy="457200"/>
            <a:chOff x="0" y="0"/>
            <a:chExt cx="609600" cy="6096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194560" y="7863840"/>
            <a:ext cx="2011680" cy="1188720"/>
            <a:chOff x="0" y="0"/>
            <a:chExt cx="268224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15" t="0" r="-2581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822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IMPACTA 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284983" y="8088887"/>
            <a:ext cx="2585723" cy="738635"/>
            <a:chOff x="0" y="0"/>
            <a:chExt cx="3447631" cy="9848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47669" cy="984885"/>
            </a:xfrm>
            <a:custGeom>
              <a:avLst/>
              <a:gdLst/>
              <a:ahLst/>
              <a:cxnLst/>
              <a:rect r="r" b="b" t="t" l="l"/>
              <a:pathLst>
                <a:path h="984885" w="3447669">
                  <a:moveTo>
                    <a:pt x="0" y="479806"/>
                  </a:moveTo>
                  <a:cubicBezTo>
                    <a:pt x="0" y="214757"/>
                    <a:pt x="214757" y="0"/>
                    <a:pt x="479806" y="0"/>
                  </a:cubicBezTo>
                  <a:lnTo>
                    <a:pt x="2967863" y="0"/>
                  </a:lnTo>
                  <a:cubicBezTo>
                    <a:pt x="3232785" y="0"/>
                    <a:pt x="3447669" y="214757"/>
                    <a:pt x="3447669" y="479806"/>
                  </a:cubicBezTo>
                  <a:lnTo>
                    <a:pt x="3447669" y="505079"/>
                  </a:lnTo>
                  <a:cubicBezTo>
                    <a:pt x="3447669" y="770001"/>
                    <a:pt x="3232912" y="984885"/>
                    <a:pt x="2967863" y="984885"/>
                  </a:cubicBezTo>
                  <a:lnTo>
                    <a:pt x="479806" y="984885"/>
                  </a:lnTo>
                  <a:cubicBezTo>
                    <a:pt x="214757" y="984885"/>
                    <a:pt x="0" y="770001"/>
                    <a:pt x="0" y="50507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297680" y="8101584"/>
            <a:ext cx="2560320" cy="713232"/>
            <a:chOff x="0" y="0"/>
            <a:chExt cx="3413760" cy="95097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13760" cy="950976"/>
            </a:xfrm>
            <a:custGeom>
              <a:avLst/>
              <a:gdLst/>
              <a:ahLst/>
              <a:cxnLst/>
              <a:rect r="r" b="b" t="t" l="l"/>
              <a:pathLst>
                <a:path h="95097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4137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028183" y="8088887"/>
            <a:ext cx="2494283" cy="738635"/>
            <a:chOff x="0" y="0"/>
            <a:chExt cx="3325711" cy="98484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25749" cy="984885"/>
            </a:xfrm>
            <a:custGeom>
              <a:avLst/>
              <a:gdLst/>
              <a:ahLst/>
              <a:cxnLst/>
              <a:rect r="r" b="b" t="t" l="l"/>
              <a:pathLst>
                <a:path h="984885" w="3325749">
                  <a:moveTo>
                    <a:pt x="0" y="479806"/>
                  </a:moveTo>
                  <a:cubicBezTo>
                    <a:pt x="0" y="214757"/>
                    <a:pt x="214757" y="0"/>
                    <a:pt x="479806" y="0"/>
                  </a:cubicBezTo>
                  <a:lnTo>
                    <a:pt x="2845943" y="0"/>
                  </a:lnTo>
                  <a:cubicBezTo>
                    <a:pt x="3110865" y="0"/>
                    <a:pt x="3325749" y="214757"/>
                    <a:pt x="3325749" y="479806"/>
                  </a:cubicBezTo>
                  <a:lnTo>
                    <a:pt x="3325749" y="505079"/>
                  </a:lnTo>
                  <a:cubicBezTo>
                    <a:pt x="3325749" y="770001"/>
                    <a:pt x="3110992" y="984885"/>
                    <a:pt x="2845943" y="984885"/>
                  </a:cubicBezTo>
                  <a:lnTo>
                    <a:pt x="479806" y="984885"/>
                  </a:lnTo>
                  <a:cubicBezTo>
                    <a:pt x="214757" y="984885"/>
                    <a:pt x="0" y="770001"/>
                    <a:pt x="0" y="50507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040880" y="8101584"/>
            <a:ext cx="2468880" cy="713232"/>
            <a:chOff x="0" y="0"/>
            <a:chExt cx="3291840" cy="9509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91840" cy="950976"/>
            </a:xfrm>
            <a:custGeom>
              <a:avLst/>
              <a:gdLst/>
              <a:ahLst/>
              <a:cxnLst/>
              <a:rect r="r" b="b" t="t" l="l"/>
              <a:pathLst>
                <a:path h="9509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29184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Planificadores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79943" y="8088887"/>
            <a:ext cx="2219963" cy="738635"/>
            <a:chOff x="0" y="0"/>
            <a:chExt cx="2959951" cy="98484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59989" cy="984885"/>
            </a:xfrm>
            <a:custGeom>
              <a:avLst/>
              <a:gdLst/>
              <a:ahLst/>
              <a:cxnLst/>
              <a:rect r="r" b="b" t="t" l="l"/>
              <a:pathLst>
                <a:path h="984885" w="2959989">
                  <a:moveTo>
                    <a:pt x="0" y="479806"/>
                  </a:moveTo>
                  <a:cubicBezTo>
                    <a:pt x="0" y="214757"/>
                    <a:pt x="214757" y="0"/>
                    <a:pt x="479806" y="0"/>
                  </a:cubicBezTo>
                  <a:lnTo>
                    <a:pt x="2480183" y="0"/>
                  </a:lnTo>
                  <a:cubicBezTo>
                    <a:pt x="2745105" y="0"/>
                    <a:pt x="2959989" y="214757"/>
                    <a:pt x="2959989" y="479806"/>
                  </a:cubicBezTo>
                  <a:lnTo>
                    <a:pt x="2959989" y="505079"/>
                  </a:lnTo>
                  <a:cubicBezTo>
                    <a:pt x="2959989" y="770001"/>
                    <a:pt x="2745232" y="984885"/>
                    <a:pt x="2480183" y="984885"/>
                  </a:cubicBezTo>
                  <a:lnTo>
                    <a:pt x="479806" y="984885"/>
                  </a:lnTo>
                  <a:cubicBezTo>
                    <a:pt x="214757" y="984885"/>
                    <a:pt x="0" y="770001"/>
                    <a:pt x="0" y="50507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692640" y="8101584"/>
            <a:ext cx="2194560" cy="713232"/>
            <a:chOff x="0" y="0"/>
            <a:chExt cx="2926080" cy="95097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0" cy="950976"/>
            </a:xfrm>
            <a:custGeom>
              <a:avLst/>
              <a:gdLst/>
              <a:ahLst/>
              <a:cxnLst/>
              <a:rect r="r" b="b" t="t" l="l"/>
              <a:pathLst>
                <a:path h="95097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926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Conductores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057383" y="8088887"/>
            <a:ext cx="1854203" cy="738635"/>
            <a:chOff x="0" y="0"/>
            <a:chExt cx="2472271" cy="98484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72309" cy="984885"/>
            </a:xfrm>
            <a:custGeom>
              <a:avLst/>
              <a:gdLst/>
              <a:ahLst/>
              <a:cxnLst/>
              <a:rect r="r" b="b" t="t" l="l"/>
              <a:pathLst>
                <a:path h="984885" w="2472309">
                  <a:moveTo>
                    <a:pt x="0" y="479806"/>
                  </a:moveTo>
                  <a:cubicBezTo>
                    <a:pt x="0" y="214757"/>
                    <a:pt x="214757" y="0"/>
                    <a:pt x="479806" y="0"/>
                  </a:cubicBezTo>
                  <a:lnTo>
                    <a:pt x="1992503" y="0"/>
                  </a:lnTo>
                  <a:cubicBezTo>
                    <a:pt x="2257425" y="0"/>
                    <a:pt x="2472309" y="214757"/>
                    <a:pt x="2472309" y="479806"/>
                  </a:cubicBezTo>
                  <a:lnTo>
                    <a:pt x="2472309" y="505079"/>
                  </a:lnTo>
                  <a:cubicBezTo>
                    <a:pt x="2472309" y="770001"/>
                    <a:pt x="2257552" y="984885"/>
                    <a:pt x="1992503" y="984885"/>
                  </a:cubicBezTo>
                  <a:lnTo>
                    <a:pt x="479806" y="984885"/>
                  </a:lnTo>
                  <a:cubicBezTo>
                    <a:pt x="214757" y="984885"/>
                    <a:pt x="0" y="770001"/>
                    <a:pt x="0" y="50507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070080" y="8101584"/>
            <a:ext cx="1828800" cy="713232"/>
            <a:chOff x="0" y="0"/>
            <a:chExt cx="2438400" cy="95097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950976"/>
            </a:xfrm>
            <a:custGeom>
              <a:avLst/>
              <a:gdLst/>
              <a:ahLst/>
              <a:cxnLst/>
              <a:rect r="r" b="b" t="t" l="l"/>
              <a:pathLst>
                <a:path h="95097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43840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Pasajeros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069063" y="8088887"/>
            <a:ext cx="2768603" cy="738635"/>
            <a:chOff x="0" y="0"/>
            <a:chExt cx="3691471" cy="98484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91509" cy="984885"/>
            </a:xfrm>
            <a:custGeom>
              <a:avLst/>
              <a:gdLst/>
              <a:ahLst/>
              <a:cxnLst/>
              <a:rect r="r" b="b" t="t" l="l"/>
              <a:pathLst>
                <a:path h="984885" w="3691509">
                  <a:moveTo>
                    <a:pt x="0" y="479806"/>
                  </a:moveTo>
                  <a:cubicBezTo>
                    <a:pt x="0" y="214757"/>
                    <a:pt x="214757" y="0"/>
                    <a:pt x="479806" y="0"/>
                  </a:cubicBezTo>
                  <a:lnTo>
                    <a:pt x="3211703" y="0"/>
                  </a:lnTo>
                  <a:cubicBezTo>
                    <a:pt x="3476625" y="0"/>
                    <a:pt x="3691509" y="214757"/>
                    <a:pt x="3691509" y="479806"/>
                  </a:cubicBezTo>
                  <a:lnTo>
                    <a:pt x="3691509" y="505079"/>
                  </a:lnTo>
                  <a:cubicBezTo>
                    <a:pt x="3691509" y="770001"/>
                    <a:pt x="3476752" y="984885"/>
                    <a:pt x="3211703" y="984885"/>
                  </a:cubicBezTo>
                  <a:lnTo>
                    <a:pt x="479806" y="984885"/>
                  </a:lnTo>
                  <a:cubicBezTo>
                    <a:pt x="214757" y="984885"/>
                    <a:pt x="0" y="770001"/>
                    <a:pt x="0" y="50507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4081760" y="8101584"/>
            <a:ext cx="2743200" cy="713232"/>
            <a:chOff x="0" y="0"/>
            <a:chExt cx="3657600" cy="9509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950976"/>
            </a:xfrm>
            <a:custGeom>
              <a:avLst/>
              <a:gdLst/>
              <a:ahLst/>
              <a:cxnLst/>
              <a:rect r="r" b="b" t="t" l="l"/>
              <a:pathLst>
                <a:path h="95097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65760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Empresas clientes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46336"/>
            <a:ext cx="10972800" cy="457200"/>
            <a:chOff x="0" y="0"/>
            <a:chExt cx="146304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2 — Desarrollo Proyecto APT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457200"/>
            <a:chOff x="0" y="0"/>
            <a:chExt cx="21945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PROBLEMÁTICA Y PROPUESTA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051179"/>
            <a:ext cx="164592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14213D"/>
                </a:solidFill>
                <a:latin typeface="Cambria Bold"/>
                <a:ea typeface="Cambria Bold"/>
                <a:cs typeface="Cambria Bold"/>
                <a:sym typeface="Cambria Bold"/>
              </a:rPr>
              <a:t>Del dolor del cliente a la solución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560320"/>
            <a:ext cx="7498080" cy="548640"/>
            <a:chOff x="0" y="0"/>
            <a:chExt cx="999744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C044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 / DOLOR DEL CLIENTE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75520" y="2560320"/>
            <a:ext cx="7498080" cy="548640"/>
            <a:chOff x="0" y="0"/>
            <a:chExt cx="99974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0F8B7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DE SOLUCIÓN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4875" y="3245739"/>
            <a:ext cx="7517130" cy="1756410"/>
            <a:chOff x="0" y="0"/>
            <a:chExt cx="10022840" cy="2341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22839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022839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9776333" y="0"/>
                  </a:lnTo>
                  <a:cubicBezTo>
                    <a:pt x="9912476" y="0"/>
                    <a:pt x="10022839" y="110363"/>
                    <a:pt x="10022839" y="246507"/>
                  </a:cubicBezTo>
                  <a:lnTo>
                    <a:pt x="10022839" y="2095373"/>
                  </a:lnTo>
                  <a:cubicBezTo>
                    <a:pt x="10022839" y="2231517"/>
                    <a:pt x="9912476" y="2341880"/>
                    <a:pt x="977633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FBE6E3"/>
            </a:solidFill>
            <a:ln w="19050" cap="sq">
              <a:solidFill>
                <a:srgbClr val="F0C9C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76023" y="3644903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C0443C"/>
            </a:solidFill>
            <a:ln w="25400" cap="sq">
              <a:solidFill>
                <a:srgbClr val="C0443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08176" y="3877056"/>
            <a:ext cx="475488" cy="475488"/>
            <a:chOff x="0" y="0"/>
            <a:chExt cx="633984" cy="63398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377440" y="3346704"/>
            <a:ext cx="5852160" cy="1554480"/>
            <a:chOff x="0" y="0"/>
            <a:chExt cx="780288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2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55" r="0" b="-233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80288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Rutas y pasajeros se coordinan por WhatsApp y planillas Excel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19239" y="3699767"/>
            <a:ext cx="866651" cy="866651"/>
            <a:chOff x="0" y="0"/>
            <a:chExt cx="1155535" cy="11555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851392" y="3931920"/>
            <a:ext cx="402336" cy="402336"/>
            <a:chOff x="0" y="0"/>
            <a:chExt cx="536448" cy="536448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83115" y="3245739"/>
            <a:ext cx="7700010" cy="1756410"/>
            <a:chOff x="0" y="0"/>
            <a:chExt cx="10266680" cy="2341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668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266680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020173" y="0"/>
                  </a:lnTo>
                  <a:cubicBezTo>
                    <a:pt x="10156317" y="0"/>
                    <a:pt x="10266680" y="110363"/>
                    <a:pt x="10266680" y="246507"/>
                  </a:cubicBezTo>
                  <a:lnTo>
                    <a:pt x="10266680" y="2095373"/>
                  </a:lnTo>
                  <a:cubicBezTo>
                    <a:pt x="10266680" y="2231517"/>
                    <a:pt x="10156317" y="2341880"/>
                    <a:pt x="1002017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E3F4F2"/>
            </a:solidFill>
            <a:ln w="19050" cap="sq">
              <a:solidFill>
                <a:srgbClr val="BFE3D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54263" y="3644903"/>
            <a:ext cx="939803" cy="939803"/>
            <a:chOff x="0" y="0"/>
            <a:chExt cx="1253071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186416" y="3877056"/>
            <a:ext cx="475488" cy="475488"/>
            <a:chOff x="0" y="0"/>
            <a:chExt cx="633984" cy="63398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155680" y="3346704"/>
            <a:ext cx="6035040" cy="1554480"/>
            <a:chOff x="0" y="0"/>
            <a:chExt cx="8046720" cy="2072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804672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web que centraliza empresas, pasajeros, conductores, rutas y servicios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4875" y="5202555"/>
            <a:ext cx="7517130" cy="1756410"/>
            <a:chOff x="0" y="0"/>
            <a:chExt cx="10022840" cy="2341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22839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022839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9776333" y="0"/>
                  </a:lnTo>
                  <a:cubicBezTo>
                    <a:pt x="9912476" y="0"/>
                    <a:pt x="10022839" y="110363"/>
                    <a:pt x="10022839" y="246507"/>
                  </a:cubicBezTo>
                  <a:lnTo>
                    <a:pt x="10022839" y="2095373"/>
                  </a:lnTo>
                  <a:cubicBezTo>
                    <a:pt x="10022839" y="2231517"/>
                    <a:pt x="9912476" y="2341880"/>
                    <a:pt x="977633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FBE6E3"/>
            </a:solidFill>
            <a:ln w="19050" cap="sq">
              <a:solidFill>
                <a:srgbClr val="F0C9C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76023" y="5601719"/>
            <a:ext cx="939803" cy="939803"/>
            <a:chOff x="0" y="0"/>
            <a:chExt cx="1253071" cy="1253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C0443C"/>
            </a:solidFill>
            <a:ln w="25400" cap="sq">
              <a:solidFill>
                <a:srgbClr val="C0443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08176" y="5833872"/>
            <a:ext cx="475488" cy="475488"/>
            <a:chOff x="0" y="0"/>
            <a:chExt cx="633984" cy="63398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377440" y="5303520"/>
            <a:ext cx="5852160" cy="1554480"/>
            <a:chOff x="0" y="0"/>
            <a:chExt cx="7802880" cy="2072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02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55" r="0" b="-2335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780288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puede saber con precisión quién usó cada servicio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619239" y="5656583"/>
            <a:ext cx="866651" cy="866651"/>
            <a:chOff x="0" y="0"/>
            <a:chExt cx="1155535" cy="11555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851392" y="5888736"/>
            <a:ext cx="402336" cy="402336"/>
            <a:chOff x="0" y="0"/>
            <a:chExt cx="536448" cy="536448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83115" y="5202555"/>
            <a:ext cx="7700010" cy="1756410"/>
            <a:chOff x="0" y="0"/>
            <a:chExt cx="10266680" cy="2341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6668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266680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020173" y="0"/>
                  </a:lnTo>
                  <a:cubicBezTo>
                    <a:pt x="10156317" y="0"/>
                    <a:pt x="10266680" y="110363"/>
                    <a:pt x="10266680" y="246507"/>
                  </a:cubicBezTo>
                  <a:lnTo>
                    <a:pt x="10266680" y="2095373"/>
                  </a:lnTo>
                  <a:cubicBezTo>
                    <a:pt x="10266680" y="2231517"/>
                    <a:pt x="10156317" y="2341880"/>
                    <a:pt x="1002017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E3F4F2"/>
            </a:solidFill>
            <a:ln w="19050" cap="sq">
              <a:solidFill>
                <a:srgbClr val="BFE3D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954263" y="5601719"/>
            <a:ext cx="939803" cy="939803"/>
            <a:chOff x="0" y="0"/>
            <a:chExt cx="1253071" cy="1253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186416" y="5833872"/>
            <a:ext cx="475488" cy="475488"/>
            <a:chOff x="0" y="0"/>
            <a:chExt cx="633984" cy="633984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155680" y="5303520"/>
            <a:ext cx="6035040" cy="1554480"/>
            <a:chOff x="0" y="0"/>
            <a:chExt cx="8046720" cy="2072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804672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móvil que registra la asistencia efectiva mediante código QR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4875" y="7159371"/>
            <a:ext cx="7517130" cy="1756410"/>
            <a:chOff x="0" y="0"/>
            <a:chExt cx="10022840" cy="2341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22839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022839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9776333" y="0"/>
                  </a:lnTo>
                  <a:cubicBezTo>
                    <a:pt x="9912476" y="0"/>
                    <a:pt x="10022839" y="110363"/>
                    <a:pt x="10022839" y="246507"/>
                  </a:cubicBezTo>
                  <a:lnTo>
                    <a:pt x="10022839" y="2095373"/>
                  </a:lnTo>
                  <a:cubicBezTo>
                    <a:pt x="10022839" y="2231517"/>
                    <a:pt x="9912476" y="2341880"/>
                    <a:pt x="977633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FBE6E3"/>
            </a:solidFill>
            <a:ln w="19050" cap="sq">
              <a:solidFill>
                <a:srgbClr val="F0C9C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76023" y="7558535"/>
            <a:ext cx="939803" cy="939803"/>
            <a:chOff x="0" y="0"/>
            <a:chExt cx="1253071" cy="1253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C0443C"/>
            </a:solidFill>
            <a:ln w="25400" cap="sq">
              <a:solidFill>
                <a:srgbClr val="C0443C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08176" y="7790688"/>
            <a:ext cx="475488" cy="475488"/>
            <a:chOff x="0" y="0"/>
            <a:chExt cx="633984" cy="633984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377440" y="7260336"/>
            <a:ext cx="5852160" cy="1554480"/>
            <a:chOff x="0" y="0"/>
            <a:chExt cx="7802880" cy="2072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802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55" r="0" b="-233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780288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Consolidación manual de datos para las planillas mensuales de cobro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619239" y="7613399"/>
            <a:ext cx="866651" cy="866651"/>
            <a:chOff x="0" y="0"/>
            <a:chExt cx="1155535" cy="115553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851392" y="7845552"/>
            <a:ext cx="402336" cy="402336"/>
            <a:chOff x="0" y="0"/>
            <a:chExt cx="536448" cy="536448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83115" y="7159371"/>
            <a:ext cx="7700010" cy="1756410"/>
            <a:chOff x="0" y="0"/>
            <a:chExt cx="10266680" cy="23418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6668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266680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020173" y="0"/>
                  </a:lnTo>
                  <a:cubicBezTo>
                    <a:pt x="10156317" y="0"/>
                    <a:pt x="10266680" y="110363"/>
                    <a:pt x="10266680" y="246507"/>
                  </a:cubicBezTo>
                  <a:lnTo>
                    <a:pt x="10266680" y="2095373"/>
                  </a:lnTo>
                  <a:cubicBezTo>
                    <a:pt x="10266680" y="2231517"/>
                    <a:pt x="10156317" y="2341880"/>
                    <a:pt x="10020173" y="2341880"/>
                  </a:cubicBezTo>
                  <a:lnTo>
                    <a:pt x="246507" y="2341880"/>
                  </a:lnTo>
                  <a:cubicBezTo>
                    <a:pt x="110363" y="2341880"/>
                    <a:pt x="0" y="2231517"/>
                    <a:pt x="0" y="2095373"/>
                  </a:cubicBezTo>
                  <a:close/>
                </a:path>
              </a:pathLst>
            </a:custGeom>
            <a:solidFill>
              <a:srgbClr val="E3F4F2"/>
            </a:solidFill>
            <a:ln w="19050" cap="sq">
              <a:solidFill>
                <a:srgbClr val="BFE3D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954263" y="7558535"/>
            <a:ext cx="939803" cy="939803"/>
            <a:chOff x="0" y="0"/>
            <a:chExt cx="1253071" cy="12530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186416" y="7790688"/>
            <a:ext cx="475488" cy="475488"/>
            <a:chOff x="0" y="0"/>
            <a:chExt cx="633984" cy="633984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155680" y="7260336"/>
            <a:ext cx="6035040" cy="1554480"/>
            <a:chOff x="0" y="0"/>
            <a:chExt cx="8046720" cy="2072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804672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Dashboard, reportes y planillas mensuales generados desde los datos registrados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46336"/>
            <a:ext cx="10972800" cy="457200"/>
            <a:chOff x="0" y="0"/>
            <a:chExt cx="146304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A8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2 — Desarrollo Proyecto APT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457200"/>
            <a:chOff x="0" y="0"/>
            <a:chExt cx="21945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OBJETIVOS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051179"/>
            <a:ext cx="164592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general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2821943"/>
            <a:ext cx="16484603" cy="4140203"/>
            <a:chOff x="0" y="0"/>
            <a:chExt cx="21979471" cy="55202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510" cy="5520309"/>
            </a:xfrm>
            <a:custGeom>
              <a:avLst/>
              <a:gdLst/>
              <a:ahLst/>
              <a:cxnLst/>
              <a:rect r="r" b="b" t="t" l="l"/>
              <a:pathLst>
                <a:path h="5520309" w="2197951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21685123" y="0"/>
                  </a:lnTo>
                  <a:cubicBezTo>
                    <a:pt x="21847683" y="0"/>
                    <a:pt x="21979510" y="131826"/>
                    <a:pt x="21979510" y="294386"/>
                  </a:cubicBezTo>
                  <a:lnTo>
                    <a:pt x="21979510" y="5225923"/>
                  </a:lnTo>
                  <a:cubicBezTo>
                    <a:pt x="21979510" y="5388483"/>
                    <a:pt x="21847683" y="5520309"/>
                    <a:pt x="21685123" y="5520309"/>
                  </a:cubicBezTo>
                  <a:lnTo>
                    <a:pt x="294386" y="5520309"/>
                  </a:lnTo>
                  <a:cubicBezTo>
                    <a:pt x="131826" y="5520309"/>
                    <a:pt x="0" y="5388483"/>
                    <a:pt x="0" y="5225923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50343" y="3370583"/>
            <a:ext cx="1305563" cy="1305563"/>
            <a:chOff x="0" y="0"/>
            <a:chExt cx="1740751" cy="1740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73936" y="3694176"/>
            <a:ext cx="658368" cy="658368"/>
            <a:chOff x="0" y="0"/>
            <a:chExt cx="877824" cy="87782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200400" y="3108960"/>
            <a:ext cx="13624560" cy="3566160"/>
            <a:chOff x="0" y="0"/>
            <a:chExt cx="18166080" cy="4754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16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42" r="0" b="-244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166080" cy="476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Desarrollar una plataforma web y móvil para la gestión del transporte de personal, que apoye la planificación de rutas, controle la asistencia efectiva de los pasajeros y centralice la información de los servicios realizados.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7485383"/>
            <a:ext cx="5328923" cy="1397003"/>
            <a:chOff x="0" y="0"/>
            <a:chExt cx="7105231" cy="1862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6856857" y="0"/>
                  </a:lnTo>
                  <a:cubicBezTo>
                    <a:pt x="6994017" y="0"/>
                    <a:pt x="7105269" y="111252"/>
                    <a:pt x="7105269" y="248412"/>
                  </a:cubicBezTo>
                  <a:lnTo>
                    <a:pt x="7105269" y="1614297"/>
                  </a:lnTo>
                  <a:cubicBezTo>
                    <a:pt x="7105269" y="1751457"/>
                    <a:pt x="6994017" y="1862709"/>
                    <a:pt x="685685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76023" y="7704839"/>
            <a:ext cx="939803" cy="939803"/>
            <a:chOff x="0" y="0"/>
            <a:chExt cx="1253071" cy="1253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76" y="7936992"/>
            <a:ext cx="475488" cy="475488"/>
            <a:chOff x="0" y="0"/>
            <a:chExt cx="633984" cy="633984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40864" y="7498080"/>
            <a:ext cx="3749040" cy="1371600"/>
            <a:chOff x="0" y="0"/>
            <a:chExt cx="499872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98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99872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Apoyar la planificación de rutas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9543" y="7485383"/>
            <a:ext cx="5328923" cy="1397003"/>
            <a:chOff x="0" y="0"/>
            <a:chExt cx="7105231" cy="18626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6856857" y="0"/>
                  </a:lnTo>
                  <a:cubicBezTo>
                    <a:pt x="6994017" y="0"/>
                    <a:pt x="7105269" y="111252"/>
                    <a:pt x="7105269" y="248412"/>
                  </a:cubicBezTo>
                  <a:lnTo>
                    <a:pt x="7105269" y="1614297"/>
                  </a:lnTo>
                  <a:cubicBezTo>
                    <a:pt x="7105269" y="1751457"/>
                    <a:pt x="6994017" y="1862709"/>
                    <a:pt x="685685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753863" y="7704839"/>
            <a:ext cx="939803" cy="939803"/>
            <a:chOff x="0" y="0"/>
            <a:chExt cx="1253071" cy="1253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986016" y="7936992"/>
            <a:ext cx="475488" cy="475488"/>
            <a:chOff x="0" y="0"/>
            <a:chExt cx="633984" cy="63398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918704" y="7498080"/>
            <a:ext cx="3749040" cy="1371600"/>
            <a:chOff x="0" y="0"/>
            <a:chExt cx="499872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98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99872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Controlar la asistencia efectiva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57383" y="7485383"/>
            <a:ext cx="5328923" cy="1397003"/>
            <a:chOff x="0" y="0"/>
            <a:chExt cx="7105231" cy="18626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6856857" y="0"/>
                  </a:lnTo>
                  <a:cubicBezTo>
                    <a:pt x="6994017" y="0"/>
                    <a:pt x="7105269" y="111252"/>
                    <a:pt x="7105269" y="248412"/>
                  </a:cubicBezTo>
                  <a:lnTo>
                    <a:pt x="7105269" y="1614297"/>
                  </a:lnTo>
                  <a:cubicBezTo>
                    <a:pt x="7105269" y="1751457"/>
                    <a:pt x="6994017" y="1862709"/>
                    <a:pt x="685685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331703" y="7704839"/>
            <a:ext cx="939803" cy="939803"/>
            <a:chOff x="0" y="0"/>
            <a:chExt cx="1253071" cy="1253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563856" y="7936992"/>
            <a:ext cx="475488" cy="475488"/>
            <a:chOff x="0" y="0"/>
            <a:chExt cx="633984" cy="63398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96544" y="7498080"/>
            <a:ext cx="3749040" cy="1371600"/>
            <a:chOff x="0" y="0"/>
            <a:chExt cx="499872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499872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Centralizar la información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46336"/>
            <a:ext cx="10972800" cy="457200"/>
            <a:chOff x="0" y="0"/>
            <a:chExt cx="146304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2 — Desarrollo Proyecto APT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457200"/>
            <a:chOff x="0" y="0"/>
            <a:chExt cx="21945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OBJETIVOS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051179"/>
            <a:ext cx="164592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14213D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Objetivos específicos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4875" y="2642235"/>
            <a:ext cx="8065770" cy="1482090"/>
            <a:chOff x="0" y="0"/>
            <a:chExt cx="10754360" cy="1976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54361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754361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07345" y="0"/>
                  </a:lnTo>
                  <a:cubicBezTo>
                    <a:pt x="10643743" y="0"/>
                    <a:pt x="10754361" y="110617"/>
                    <a:pt x="10754361" y="247015"/>
                  </a:cubicBezTo>
                  <a:lnTo>
                    <a:pt x="10754361" y="1729105"/>
                  </a:lnTo>
                  <a:cubicBezTo>
                    <a:pt x="10754361" y="1865503"/>
                    <a:pt x="10643743" y="1976120"/>
                    <a:pt x="10507345" y="1976120"/>
                  </a:cubicBezTo>
                  <a:lnTo>
                    <a:pt x="247015" y="1976120"/>
                  </a:lnTo>
                  <a:cubicBezTo>
                    <a:pt x="110617" y="1976120"/>
                    <a:pt x="0" y="1865503"/>
                    <a:pt x="0" y="1729105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76023" y="2968247"/>
            <a:ext cx="830075" cy="830075"/>
            <a:chOff x="0" y="0"/>
            <a:chExt cx="1106767" cy="1106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8720" y="2980944"/>
            <a:ext cx="804672" cy="804672"/>
            <a:chOff x="0" y="0"/>
            <a:chExt cx="1072896" cy="1072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86000" y="2724912"/>
            <a:ext cx="6400800" cy="1316736"/>
            <a:chOff x="0" y="0"/>
            <a:chExt cx="8534400" cy="1755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53440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Centralizar la gestión de empresas clientes, pasajeros, conductores, vehículos, rutas y servicios.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4875" y="4251579"/>
            <a:ext cx="8065770" cy="1482090"/>
            <a:chOff x="0" y="0"/>
            <a:chExt cx="10754360" cy="1976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54361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754361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07345" y="0"/>
                  </a:lnTo>
                  <a:cubicBezTo>
                    <a:pt x="10643743" y="0"/>
                    <a:pt x="10754361" y="110617"/>
                    <a:pt x="10754361" y="247015"/>
                  </a:cubicBezTo>
                  <a:lnTo>
                    <a:pt x="10754361" y="1729105"/>
                  </a:lnTo>
                  <a:cubicBezTo>
                    <a:pt x="10754361" y="1865503"/>
                    <a:pt x="10643743" y="1976120"/>
                    <a:pt x="10507345" y="1976120"/>
                  </a:cubicBezTo>
                  <a:lnTo>
                    <a:pt x="247015" y="1976120"/>
                  </a:lnTo>
                  <a:cubicBezTo>
                    <a:pt x="110617" y="1976120"/>
                    <a:pt x="0" y="1865503"/>
                    <a:pt x="0" y="1729105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76023" y="4577591"/>
            <a:ext cx="830075" cy="830075"/>
            <a:chOff x="0" y="0"/>
            <a:chExt cx="1106767" cy="11067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4590288"/>
            <a:ext cx="804672" cy="804672"/>
            <a:chOff x="0" y="0"/>
            <a:chExt cx="1072896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86000" y="4334256"/>
            <a:ext cx="6400800" cy="1316736"/>
            <a:chOff x="0" y="0"/>
            <a:chExt cx="853440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853440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Apoyar la planificación y gestión de rutas según los requerimientos de cada servicio.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4875" y="5860923"/>
            <a:ext cx="8065770" cy="1482090"/>
            <a:chOff x="0" y="0"/>
            <a:chExt cx="10754360" cy="1976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54361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754361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07345" y="0"/>
                  </a:lnTo>
                  <a:cubicBezTo>
                    <a:pt x="10643743" y="0"/>
                    <a:pt x="10754361" y="110617"/>
                    <a:pt x="10754361" y="247015"/>
                  </a:cubicBezTo>
                  <a:lnTo>
                    <a:pt x="10754361" y="1729105"/>
                  </a:lnTo>
                  <a:cubicBezTo>
                    <a:pt x="10754361" y="1865503"/>
                    <a:pt x="10643743" y="1976120"/>
                    <a:pt x="10507345" y="1976120"/>
                  </a:cubicBezTo>
                  <a:lnTo>
                    <a:pt x="247015" y="1976120"/>
                  </a:lnTo>
                  <a:cubicBezTo>
                    <a:pt x="110617" y="1976120"/>
                    <a:pt x="0" y="1865503"/>
                    <a:pt x="0" y="1729105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76023" y="6186935"/>
            <a:ext cx="830075" cy="830075"/>
            <a:chOff x="0" y="0"/>
            <a:chExt cx="1106767" cy="11067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" y="6199632"/>
            <a:ext cx="804672" cy="804672"/>
            <a:chOff x="0" y="0"/>
            <a:chExt cx="1072896" cy="1072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5943600"/>
            <a:ext cx="6400800" cy="1316736"/>
            <a:chOff x="0" y="0"/>
            <a:chExt cx="8534400" cy="17556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853440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Controlar la asistencia mediante códigos QR para registrar el uso efectivo de cada servicio.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4875" y="7470267"/>
            <a:ext cx="8065770" cy="1482090"/>
            <a:chOff x="0" y="0"/>
            <a:chExt cx="10754360" cy="1976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54361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754361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07345" y="0"/>
                  </a:lnTo>
                  <a:cubicBezTo>
                    <a:pt x="10643743" y="0"/>
                    <a:pt x="10754361" y="110617"/>
                    <a:pt x="10754361" y="247015"/>
                  </a:cubicBezTo>
                  <a:lnTo>
                    <a:pt x="10754361" y="1729105"/>
                  </a:lnTo>
                  <a:cubicBezTo>
                    <a:pt x="10754361" y="1865503"/>
                    <a:pt x="10643743" y="1976120"/>
                    <a:pt x="10507345" y="1976120"/>
                  </a:cubicBezTo>
                  <a:lnTo>
                    <a:pt x="247015" y="1976120"/>
                  </a:lnTo>
                  <a:cubicBezTo>
                    <a:pt x="110617" y="1976120"/>
                    <a:pt x="0" y="1865503"/>
                    <a:pt x="0" y="1729105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76023" y="7796279"/>
            <a:ext cx="830075" cy="830075"/>
            <a:chOff x="0" y="0"/>
            <a:chExt cx="1106767" cy="110676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1E3A6B"/>
            </a:solidFill>
            <a:ln w="25400" cap="sq">
              <a:solidFill>
                <a:srgbClr val="1E3A6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7808976"/>
            <a:ext cx="804672" cy="804672"/>
            <a:chOff x="0" y="0"/>
            <a:chExt cx="1072896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286000" y="7552944"/>
            <a:ext cx="6400800" cy="1316736"/>
            <a:chOff x="0" y="0"/>
            <a:chExt cx="8534400" cy="17556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853440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administrativa con dashboard de indicadores.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7355" y="2642235"/>
            <a:ext cx="8065770" cy="2030730"/>
            <a:chOff x="0" y="0"/>
            <a:chExt cx="10754360" cy="2707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543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0754360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10508234" y="0"/>
                  </a:lnTo>
                  <a:cubicBezTo>
                    <a:pt x="10644124" y="0"/>
                    <a:pt x="10754360" y="110236"/>
                    <a:pt x="10754360" y="246126"/>
                  </a:cubicBezTo>
                  <a:lnTo>
                    <a:pt x="10754360" y="2461514"/>
                  </a:lnTo>
                  <a:cubicBezTo>
                    <a:pt x="10754360" y="2597404"/>
                    <a:pt x="10644124" y="2707640"/>
                    <a:pt x="10508234" y="2707640"/>
                  </a:cubicBezTo>
                  <a:lnTo>
                    <a:pt x="246126" y="2707640"/>
                  </a:lnTo>
                  <a:cubicBezTo>
                    <a:pt x="110236" y="2707640"/>
                    <a:pt x="0" y="2597404"/>
                    <a:pt x="0" y="2461514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88503" y="3242567"/>
            <a:ext cx="830075" cy="830075"/>
            <a:chOff x="0" y="0"/>
            <a:chExt cx="1106767" cy="110676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3255264"/>
            <a:ext cx="804672" cy="804672"/>
            <a:chOff x="0" y="0"/>
            <a:chExt cx="1072896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98480" y="2724912"/>
            <a:ext cx="6400800" cy="1865376"/>
            <a:chOff x="0" y="0"/>
            <a:chExt cx="8534400" cy="24871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34400" cy="2487168"/>
            </a:xfrm>
            <a:custGeom>
              <a:avLst/>
              <a:gdLst/>
              <a:ahLst/>
              <a:cxnLst/>
              <a:rect r="r" b="b" t="t" l="l"/>
              <a:pathLst>
                <a:path h="24871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0" r="0" b="-168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8534400" cy="255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app móvil para que conductores y pasajeros interactúen con sus servicios.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17355" y="4809363"/>
            <a:ext cx="8065770" cy="2030730"/>
            <a:chOff x="0" y="0"/>
            <a:chExt cx="10754360" cy="2707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543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0754360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10508234" y="0"/>
                  </a:lnTo>
                  <a:cubicBezTo>
                    <a:pt x="10644124" y="0"/>
                    <a:pt x="10754360" y="110236"/>
                    <a:pt x="10754360" y="246126"/>
                  </a:cubicBezTo>
                  <a:lnTo>
                    <a:pt x="10754360" y="2461514"/>
                  </a:lnTo>
                  <a:cubicBezTo>
                    <a:pt x="10754360" y="2597404"/>
                    <a:pt x="10644124" y="2707640"/>
                    <a:pt x="10508234" y="2707640"/>
                  </a:cubicBezTo>
                  <a:lnTo>
                    <a:pt x="246126" y="2707640"/>
                  </a:lnTo>
                  <a:cubicBezTo>
                    <a:pt x="110236" y="2707640"/>
                    <a:pt x="0" y="2597404"/>
                    <a:pt x="0" y="2461514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588503" y="5409695"/>
            <a:ext cx="830075" cy="830075"/>
            <a:chOff x="0" y="0"/>
            <a:chExt cx="1106767" cy="110676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601200" y="5422392"/>
            <a:ext cx="804672" cy="804672"/>
            <a:chOff x="0" y="0"/>
            <a:chExt cx="1072896" cy="10728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698480" y="4892040"/>
            <a:ext cx="6400800" cy="1865376"/>
            <a:chOff x="0" y="0"/>
            <a:chExt cx="8534400" cy="24871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34400" cy="2487168"/>
            </a:xfrm>
            <a:custGeom>
              <a:avLst/>
              <a:gdLst/>
              <a:ahLst/>
              <a:cxnLst/>
              <a:rect r="r" b="b" t="t" l="l"/>
              <a:pathLst>
                <a:path h="24871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0" r="0" b="-168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8534400" cy="255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 y planillas mensuales a partir de servicios y asistencias registradas.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17355" y="6976491"/>
            <a:ext cx="8065770" cy="2030730"/>
            <a:chOff x="0" y="0"/>
            <a:chExt cx="10754360" cy="2707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543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0754360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10508234" y="0"/>
                  </a:lnTo>
                  <a:cubicBezTo>
                    <a:pt x="10644124" y="0"/>
                    <a:pt x="10754360" y="110236"/>
                    <a:pt x="10754360" y="246126"/>
                  </a:cubicBezTo>
                  <a:lnTo>
                    <a:pt x="10754360" y="2461514"/>
                  </a:lnTo>
                  <a:cubicBezTo>
                    <a:pt x="10754360" y="2597404"/>
                    <a:pt x="10644124" y="2707640"/>
                    <a:pt x="10508234" y="2707640"/>
                  </a:cubicBezTo>
                  <a:lnTo>
                    <a:pt x="246126" y="2707640"/>
                  </a:lnTo>
                  <a:cubicBezTo>
                    <a:pt x="110236" y="2707640"/>
                    <a:pt x="0" y="2597404"/>
                    <a:pt x="0" y="2461514"/>
                  </a:cubicBezTo>
                  <a:close/>
                </a:path>
              </a:pathLst>
            </a:custGeom>
            <a:solidFill>
              <a:srgbClr val="F3F6FB"/>
            </a:solidFill>
            <a:ln w="19050" cap="sq">
              <a:solidFill>
                <a:srgbClr val="E1E7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588503" y="7576823"/>
            <a:ext cx="830075" cy="830075"/>
            <a:chOff x="0" y="0"/>
            <a:chExt cx="1106767" cy="110676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0F8B7F"/>
            </a:solidFill>
            <a:ln w="25400" cap="sq">
              <a:solidFill>
                <a:srgbClr val="0F8B7F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601200" y="7589520"/>
            <a:ext cx="804672" cy="804672"/>
            <a:chOff x="0" y="0"/>
            <a:chExt cx="1072896" cy="10728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072896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98480" y="7059168"/>
            <a:ext cx="6400800" cy="1865376"/>
            <a:chOff x="0" y="0"/>
            <a:chExt cx="8534400" cy="24871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0" cy="2487168"/>
            </a:xfrm>
            <a:custGeom>
              <a:avLst/>
              <a:gdLst/>
              <a:ahLst/>
              <a:cxnLst/>
              <a:rect r="r" b="b" t="t" l="l"/>
              <a:pathLst>
                <a:path h="24871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0" r="0" b="-168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8534400" cy="255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421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autenticación y control de acceso según el tipo de usuario.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DAHYHgxOBj4</dc:identifier>
  <dcterms:modified xsi:type="dcterms:W3CDTF">2011-08-01T06:04:30Z</dcterms:modified>
  <cp:revision>1</cp:revision>
  <dc:title>FASE 2 — Desarrollo Proyecto APT</dc:title>
</cp:coreProperties>
</file>