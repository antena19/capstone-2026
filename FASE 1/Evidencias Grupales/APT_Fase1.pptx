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Calibri (MS) Bold" charset="1" panose="020F0702030404030204"/>
      <p:regular r:id="rId31"/>
    </p:embeddedFont>
    <p:embeddedFont>
      <p:font typeface="Cambria Bold" charset="1" panose="02040803050406030204"/>
      <p:regular r:id="rId32"/>
    </p:embeddedFont>
    <p:embeddedFont>
      <p:font typeface="Calibri (MS)" charset="1" panose="020F0502020204030204"/>
      <p:regular r:id="rId33"/>
    </p:embeddedFont>
    <p:embeddedFont>
      <p:font typeface="Calibri (MS) Italics" charset="1" panose="020F05020202040A0204"/>
      <p:regular r:id="rId34"/>
    </p:embeddedFont>
    <p:embeddedFont>
      <p:font typeface="Arimo" charset="1" panose="020B060402020202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2.png" Type="http://schemas.openxmlformats.org/officeDocument/2006/relationships/image"/><Relationship Id="rId4" Target="../media/image8.png" Type="http://schemas.openxmlformats.org/officeDocument/2006/relationships/image"/><Relationship Id="rId5" Target="../media/image11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https://app.notion.com/p/3bf24d8feb44807c823af7b10a8199cc?v=3bf24d8feb44808da16a000cafd52d70&amp;source=copy_link" TargetMode="External" Type="http://schemas.openxmlformats.org/officeDocument/2006/relationships/hyperlink"/><Relationship Id="rId2" Target="../media/image4.jpeg" Type="http://schemas.openxmlformats.org/officeDocument/2006/relationships/image"/><Relationship Id="rId3" Target="../media/image10.png" Type="http://schemas.openxmlformats.org/officeDocument/2006/relationships/image"/><Relationship Id="rId4" Target="../media/image8.png" Type="http://schemas.openxmlformats.org/officeDocument/2006/relationships/image"/><Relationship Id="rId5" Target="../media/image18.png" Type="http://schemas.openxmlformats.org/officeDocument/2006/relationships/image"/><Relationship Id="rId6" Target="../media/image14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0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11.png" Type="http://schemas.openxmlformats.org/officeDocument/2006/relationships/image"/><Relationship Id="rId7" Target="../media/image9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6.png" Type="http://schemas.openxmlformats.org/officeDocument/2006/relationships/image"/><Relationship Id="rId4" Target="../media/image9.png" Type="http://schemas.openxmlformats.org/officeDocument/2006/relationships/image"/><Relationship Id="rId5" Target="../media/image23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3.png" Type="http://schemas.openxmlformats.org/officeDocument/2006/relationships/image"/><Relationship Id="rId4" Target="../media/image11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9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68658" y="-9525"/>
            <a:ext cx="6328410" cy="10306050"/>
            <a:chOff x="0" y="0"/>
            <a:chExt cx="843788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3788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8437880">
                  <a:moveTo>
                    <a:pt x="0" y="0"/>
                  </a:moveTo>
                  <a:lnTo>
                    <a:pt x="8437880" y="0"/>
                  </a:lnTo>
                  <a:lnTo>
                    <a:pt x="8437880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26340">
            <a:off x="12923958" y="1842135"/>
            <a:ext cx="3732000" cy="0"/>
          </a:xfrm>
          <a:prstGeom prst="line">
            <a:avLst/>
          </a:prstGeom>
          <a:ln cap="rnd" w="19050">
            <a:solidFill>
              <a:srgbClr val="5C709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2867056" y="1780413"/>
            <a:ext cx="142494" cy="142494"/>
            <a:chOff x="0" y="0"/>
            <a:chExt cx="189992" cy="1899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101496" y="1780413"/>
            <a:ext cx="142494" cy="142494"/>
            <a:chOff x="0" y="0"/>
            <a:chExt cx="189992" cy="189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335936" y="1780413"/>
            <a:ext cx="142494" cy="142494"/>
            <a:chOff x="0" y="0"/>
            <a:chExt cx="189992" cy="1899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570376" y="1780413"/>
            <a:ext cx="142494" cy="142494"/>
            <a:chOff x="0" y="0"/>
            <a:chExt cx="189992" cy="1899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408838" y="3488055"/>
            <a:ext cx="2762250" cy="2762250"/>
            <a:chOff x="0" y="0"/>
            <a:chExt cx="3683000" cy="368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83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1F3A66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076731" y="4155948"/>
            <a:ext cx="1426464" cy="1426464"/>
            <a:chOff x="0" y="0"/>
            <a:chExt cx="1901952" cy="1901952"/>
          </a:xfrm>
        </p:grpSpPr>
        <p:sp>
          <p:nvSpPr>
            <p:cNvPr name="Freeform 16" id="16" descr="/home/claude/work/icons/bus_amber.png"/>
            <p:cNvSpPr/>
            <p:nvPr/>
          </p:nvSpPr>
          <p:spPr>
            <a:xfrm flipH="false" flipV="false" rot="0">
              <a:off x="0" y="0"/>
              <a:ext cx="190195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1901952"/>
                  </a:lnTo>
                  <a:lnTo>
                    <a:pt x="0" y="1901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129755" y="3208972"/>
            <a:ext cx="3320415" cy="3320415"/>
            <a:chOff x="0" y="0"/>
            <a:chExt cx="4427220" cy="44272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27220" cy="4427220"/>
            </a:xfrm>
            <a:custGeom>
              <a:avLst/>
              <a:gdLst/>
              <a:ahLst/>
              <a:cxnLst/>
              <a:rect r="r" b="b" t="t" l="l"/>
              <a:pathLst>
                <a:path h="4427220" w="4427220">
                  <a:moveTo>
                    <a:pt x="0" y="2213610"/>
                  </a:moveTo>
                  <a:cubicBezTo>
                    <a:pt x="0" y="991108"/>
                    <a:pt x="991108" y="0"/>
                    <a:pt x="2213610" y="0"/>
                  </a:cubicBezTo>
                  <a:cubicBezTo>
                    <a:pt x="3436112" y="0"/>
                    <a:pt x="4427220" y="991108"/>
                    <a:pt x="4427220" y="2213610"/>
                  </a:cubicBezTo>
                  <a:cubicBezTo>
                    <a:pt x="4427220" y="3436112"/>
                    <a:pt x="3436112" y="4427220"/>
                    <a:pt x="2213610" y="4427220"/>
                  </a:cubicBezTo>
                  <a:cubicBezTo>
                    <a:pt x="991108" y="4427220"/>
                    <a:pt x="0" y="3436112"/>
                    <a:pt x="0" y="221361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8575" cap="sq">
              <a:solidFill>
                <a:srgbClr val="FF8C42"/>
              </a:solidFill>
              <a:prstDash val="dash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311558" y="7328535"/>
            <a:ext cx="869442" cy="869442"/>
            <a:chOff x="0" y="0"/>
            <a:chExt cx="1159256" cy="11592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925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59256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cubicBezTo>
                    <a:pt x="899795" y="0"/>
                    <a:pt x="1159256" y="259461"/>
                    <a:pt x="1159256" y="579628"/>
                  </a:cubicBezTo>
                  <a:cubicBezTo>
                    <a:pt x="1159256" y="899795"/>
                    <a:pt x="899795" y="1159256"/>
                    <a:pt x="579628" y="1159256"/>
                  </a:cubicBezTo>
                  <a:cubicBezTo>
                    <a:pt x="259461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27436F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512421" y="7529398"/>
            <a:ext cx="467716" cy="467716"/>
            <a:chOff x="0" y="0"/>
            <a:chExt cx="623621" cy="623621"/>
          </a:xfrm>
        </p:grpSpPr>
        <p:sp>
          <p:nvSpPr>
            <p:cNvPr name="Freeform 22" id="22" descr="/home/claude/work/icons/qrcode_white.png"/>
            <p:cNvSpPr/>
            <p:nvPr/>
          </p:nvSpPr>
          <p:spPr>
            <a:xfrm flipH="false" flipV="false" rot="0">
              <a:off x="0" y="0"/>
              <a:ext cx="623570" cy="623570"/>
            </a:xfrm>
            <a:custGeom>
              <a:avLst/>
              <a:gdLst/>
              <a:ahLst/>
              <a:cxnLst/>
              <a:rect r="r" b="b" t="t" l="l"/>
              <a:pathLst>
                <a:path h="623570" w="623570">
                  <a:moveTo>
                    <a:pt x="0" y="0"/>
                  </a:moveTo>
                  <a:lnTo>
                    <a:pt x="623570" y="0"/>
                  </a:lnTo>
                  <a:lnTo>
                    <a:pt x="623570" y="623570"/>
                  </a:lnTo>
                  <a:lnTo>
                    <a:pt x="0" y="623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" b="-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152038" y="7602855"/>
            <a:ext cx="869442" cy="869442"/>
            <a:chOff x="0" y="0"/>
            <a:chExt cx="1159256" cy="11592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5925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59256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cubicBezTo>
                    <a:pt x="899795" y="0"/>
                    <a:pt x="1159256" y="259461"/>
                    <a:pt x="1159256" y="579628"/>
                  </a:cubicBezTo>
                  <a:cubicBezTo>
                    <a:pt x="1159256" y="899795"/>
                    <a:pt x="899795" y="1159256"/>
                    <a:pt x="579628" y="1159256"/>
                  </a:cubicBezTo>
                  <a:cubicBezTo>
                    <a:pt x="259461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27436F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6352901" y="7803718"/>
            <a:ext cx="467716" cy="467716"/>
            <a:chOff x="0" y="0"/>
            <a:chExt cx="623621" cy="623621"/>
          </a:xfrm>
        </p:grpSpPr>
        <p:sp>
          <p:nvSpPr>
            <p:cNvPr name="Freeform 26" id="26" descr="/home/claude/work/icons/map_white.png"/>
            <p:cNvSpPr/>
            <p:nvPr/>
          </p:nvSpPr>
          <p:spPr>
            <a:xfrm flipH="false" flipV="false" rot="0">
              <a:off x="0" y="0"/>
              <a:ext cx="623570" cy="623570"/>
            </a:xfrm>
            <a:custGeom>
              <a:avLst/>
              <a:gdLst/>
              <a:ahLst/>
              <a:cxnLst/>
              <a:rect r="r" b="b" t="t" l="l"/>
              <a:pathLst>
                <a:path h="623570" w="623570">
                  <a:moveTo>
                    <a:pt x="0" y="0"/>
                  </a:moveTo>
                  <a:lnTo>
                    <a:pt x="623570" y="0"/>
                  </a:lnTo>
                  <a:lnTo>
                    <a:pt x="623570" y="623570"/>
                  </a:lnTo>
                  <a:lnTo>
                    <a:pt x="0" y="623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-8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54380" y="2125980"/>
            <a:ext cx="10424160" cy="548640"/>
            <a:chOff x="0" y="0"/>
            <a:chExt cx="1389888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898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PORTAFOLIO DE TÍTULO  ·  INGENIERÍA EN INFORMÁTICA  ·  SEDE PUERTO MONTT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54380" y="2948940"/>
            <a:ext cx="10561320" cy="2606040"/>
            <a:chOff x="0" y="0"/>
            <a:chExt cx="14081760" cy="3474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081761" cy="3474720"/>
            </a:xfrm>
            <a:custGeom>
              <a:avLst/>
              <a:gdLst/>
              <a:ahLst/>
              <a:cxnLst/>
              <a:rect r="r" b="b" t="t" l="l"/>
              <a:pathLst>
                <a:path h="347472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965" r="0" b="-2896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4081760" cy="3512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Plataforma Integral para la</a:t>
              </a:r>
            </a:p>
            <a:p>
              <a:pPr algn="l">
                <a:lnSpc>
                  <a:spcPts val="7559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Gestión de Transporte de Personal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44855" y="5682615"/>
            <a:ext cx="4888230" cy="704850"/>
            <a:chOff x="0" y="0"/>
            <a:chExt cx="6517640" cy="939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17640" cy="939800"/>
            </a:xfrm>
            <a:custGeom>
              <a:avLst/>
              <a:gdLst/>
              <a:ahLst/>
              <a:cxnLst/>
              <a:rect r="r" b="b" t="t" l="l"/>
              <a:pathLst>
                <a:path h="939800" w="651764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6047740" y="0"/>
                  </a:lnTo>
                  <a:cubicBezTo>
                    <a:pt x="6307201" y="0"/>
                    <a:pt x="6517640" y="210439"/>
                    <a:pt x="6517640" y="469900"/>
                  </a:cubicBezTo>
                  <a:cubicBezTo>
                    <a:pt x="6517640" y="729361"/>
                    <a:pt x="6307201" y="939800"/>
                    <a:pt x="604774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54380" y="5692140"/>
            <a:ext cx="4869180" cy="685800"/>
            <a:chOff x="0" y="0"/>
            <a:chExt cx="649224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92240" cy="914400"/>
            </a:xfrm>
            <a:custGeom>
              <a:avLst/>
              <a:gdLst/>
              <a:ahLst/>
              <a:cxnLst/>
              <a:rect r="r" b="b" t="t" l="l"/>
              <a:pathLst>
                <a:path h="9144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4922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1 — DEFINICIÓN DEL PROYECTO APT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15360">
            <a:off x="744836" y="7333297"/>
            <a:ext cx="4271048" cy="0"/>
          </a:xfrm>
          <a:prstGeom prst="line">
            <a:avLst/>
          </a:prstGeom>
          <a:ln cap="rnd" w="9525">
            <a:solidFill>
              <a:srgbClr val="3E558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754380" y="7612380"/>
            <a:ext cx="9601200" cy="548640"/>
            <a:chOff x="0" y="0"/>
            <a:chExt cx="128016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01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2801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Angelina Mendoza  ·  Paloma Tamayo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54380" y="8133588"/>
            <a:ext cx="9601200" cy="480060"/>
            <a:chOff x="0" y="0"/>
            <a:chExt cx="12801600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AEBB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Ingeniería en Informática — Sede Puerto Montt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DESCRIPCIÓN DEL PROYECTO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Qué es y por qué es relevante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294763"/>
            <a:ext cx="7905750" cy="4819650"/>
            <a:chOff x="0" y="0"/>
            <a:chExt cx="10541000" cy="642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6426200"/>
            </a:xfrm>
            <a:custGeom>
              <a:avLst/>
              <a:gdLst/>
              <a:ahLst/>
              <a:cxnLst/>
              <a:rect r="r" b="b" t="t" l="l"/>
              <a:pathLst>
                <a:path h="6426200" w="10541000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0375773" y="0"/>
                  </a:lnTo>
                  <a:cubicBezTo>
                    <a:pt x="10467086" y="0"/>
                    <a:pt x="10541000" y="73914"/>
                    <a:pt x="10541000" y="165227"/>
                  </a:cubicBezTo>
                  <a:lnTo>
                    <a:pt x="10541000" y="6260973"/>
                  </a:lnTo>
                  <a:cubicBezTo>
                    <a:pt x="10541000" y="6352159"/>
                    <a:pt x="10467086" y="6426200"/>
                    <a:pt x="10375773" y="6426200"/>
                  </a:cubicBezTo>
                  <a:lnTo>
                    <a:pt x="165227" y="6426200"/>
                  </a:lnTo>
                  <a:cubicBezTo>
                    <a:pt x="73914" y="6426200"/>
                    <a:pt x="0" y="6352286"/>
                    <a:pt x="0" y="6260973"/>
                  </a:cubicBezTo>
                  <a:close/>
                </a:path>
              </a:pathLst>
            </a:custGeom>
            <a:solidFill>
              <a:srgbClr val="FCE9E6"/>
            </a:solidFill>
            <a:ln w="19050" cap="sq">
              <a:solidFill>
                <a:srgbClr val="F0CFC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28903" y="2678811"/>
            <a:ext cx="787146" cy="787146"/>
            <a:chOff x="0" y="0"/>
            <a:chExt cx="1049528" cy="1049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C1443A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11250" y="2861158"/>
            <a:ext cx="422453" cy="422453"/>
            <a:chOff x="0" y="0"/>
            <a:chExt cx="563270" cy="563270"/>
          </a:xfrm>
        </p:grpSpPr>
        <p:sp>
          <p:nvSpPr>
            <p:cNvPr name="Freeform 13" id="13" descr="/home/claude/work/icons/warning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25980" y="2715768"/>
            <a:ext cx="4800600" cy="685800"/>
            <a:chOff x="0" y="0"/>
            <a:chExt cx="64008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4008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C144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PROBLEMA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93292" y="3665220"/>
            <a:ext cx="7063740" cy="319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5A2E29"/>
                </a:solidFill>
                <a:latin typeface="Calibri (MS)"/>
                <a:ea typeface="Calibri (MS)"/>
                <a:cs typeface="Calibri (MS)"/>
                <a:sym typeface="Calibri (MS)"/>
              </a:rPr>
              <a:t>Planificación de rutas y control de pasajeros coordinados hoy vía WhatsApp y planillas Excel.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5A2E29"/>
                </a:solidFill>
                <a:latin typeface="Calibri (MS)"/>
                <a:ea typeface="Calibri (MS)"/>
                <a:cs typeface="Calibri (MS)"/>
                <a:sym typeface="Calibri (MS)"/>
              </a:rPr>
              <a:t>Imposible determinar con precisión quién usó cada servicio.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5A2E29"/>
                </a:solidFill>
                <a:latin typeface="Calibri (MS)"/>
                <a:ea typeface="Calibri (MS)"/>
                <a:cs typeface="Calibri (MS)"/>
                <a:sym typeface="Calibri (MS)"/>
              </a:rPr>
              <a:t>Consolidación manual de información para generar planillas mensuales de cobro.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17355" y="2294763"/>
            <a:ext cx="7905750" cy="4819650"/>
            <a:chOff x="0" y="0"/>
            <a:chExt cx="10541000" cy="642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41000" cy="6426200"/>
            </a:xfrm>
            <a:custGeom>
              <a:avLst/>
              <a:gdLst/>
              <a:ahLst/>
              <a:cxnLst/>
              <a:rect r="r" b="b" t="t" l="l"/>
              <a:pathLst>
                <a:path h="6426200" w="10541000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0375773" y="0"/>
                  </a:lnTo>
                  <a:cubicBezTo>
                    <a:pt x="10467086" y="0"/>
                    <a:pt x="10541000" y="73914"/>
                    <a:pt x="10541000" y="165227"/>
                  </a:cubicBezTo>
                  <a:lnTo>
                    <a:pt x="10541000" y="6260973"/>
                  </a:lnTo>
                  <a:cubicBezTo>
                    <a:pt x="10541000" y="6352159"/>
                    <a:pt x="10467086" y="6426200"/>
                    <a:pt x="10375773" y="6426200"/>
                  </a:cubicBezTo>
                  <a:lnTo>
                    <a:pt x="165227" y="6426200"/>
                  </a:lnTo>
                  <a:cubicBezTo>
                    <a:pt x="73914" y="6426200"/>
                    <a:pt x="0" y="6352286"/>
                    <a:pt x="0" y="6260973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BFE4D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701403" y="2678811"/>
            <a:ext cx="787146" cy="787146"/>
            <a:chOff x="0" y="0"/>
            <a:chExt cx="1049528" cy="10495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883750" y="2861158"/>
            <a:ext cx="422453" cy="422453"/>
            <a:chOff x="0" y="0"/>
            <a:chExt cx="563270" cy="563270"/>
          </a:xfrm>
        </p:grpSpPr>
        <p:sp>
          <p:nvSpPr>
            <p:cNvPr name="Freeform 23" id="23" descr="/home/claude/work/icons/rocket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698480" y="2715768"/>
            <a:ext cx="4800600" cy="685800"/>
            <a:chOff x="0" y="0"/>
            <a:chExt cx="64008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4008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E8C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 SOLUCIÓN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765792" y="3665220"/>
            <a:ext cx="7063740" cy="319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E4A44"/>
                </a:solidFill>
                <a:latin typeface="Calibri (MS)"/>
                <a:ea typeface="Calibri (MS)"/>
                <a:cs typeface="Calibri (MS)"/>
                <a:sym typeface="Calibri (MS)"/>
              </a:rPr>
              <a:t>Plataforma que centraliza empresas, pasajeros, conductores, vehículos, rutas y servicios.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E4A44"/>
                </a:solidFill>
                <a:latin typeface="Calibri (MS)"/>
                <a:ea typeface="Calibri (MS)"/>
                <a:cs typeface="Calibri (MS)"/>
                <a:sym typeface="Calibri (MS)"/>
              </a:rPr>
              <a:t>Plataforma web administrativa + dashboard de indicadores.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E4A44"/>
                </a:solidFill>
                <a:latin typeface="Calibri (MS)"/>
                <a:ea typeface="Calibri (MS)"/>
                <a:cs typeface="Calibri (MS)"/>
                <a:sym typeface="Calibri (MS)"/>
              </a:rPr>
              <a:t>App móvil con asistencia efectiva vía código QR.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E4A44"/>
                </a:solidFill>
                <a:latin typeface="Calibri (MS)"/>
                <a:ea typeface="Calibri (MS)"/>
                <a:cs typeface="Calibri (MS)"/>
                <a:sym typeface="Calibri (MS)"/>
              </a:rPr>
              <a:t>Reportes y planillas mensuales consolidadas.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44855" y="7479411"/>
            <a:ext cx="16797833" cy="1088898"/>
            <a:chOff x="0" y="0"/>
            <a:chExt cx="22397110" cy="14518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397086" cy="1451864"/>
            </a:xfrm>
            <a:custGeom>
              <a:avLst/>
              <a:gdLst/>
              <a:ahLst/>
              <a:cxnLst/>
              <a:rect r="r" b="b" t="t" l="l"/>
              <a:pathLst>
                <a:path h="1451864" w="22397086">
                  <a:moveTo>
                    <a:pt x="0" y="167513"/>
                  </a:moveTo>
                  <a:cubicBezTo>
                    <a:pt x="0" y="75057"/>
                    <a:pt x="75057" y="0"/>
                    <a:pt x="167513" y="0"/>
                  </a:cubicBezTo>
                  <a:lnTo>
                    <a:pt x="22229572" y="0"/>
                  </a:lnTo>
                  <a:cubicBezTo>
                    <a:pt x="22322028" y="0"/>
                    <a:pt x="22397086" y="75057"/>
                    <a:pt x="22397086" y="167513"/>
                  </a:cubicBezTo>
                  <a:lnTo>
                    <a:pt x="22397086" y="1284351"/>
                  </a:lnTo>
                  <a:cubicBezTo>
                    <a:pt x="22397086" y="1376807"/>
                    <a:pt x="22322028" y="1451864"/>
                    <a:pt x="22229572" y="1451864"/>
                  </a:cubicBezTo>
                  <a:lnTo>
                    <a:pt x="167513" y="1451864"/>
                  </a:lnTo>
                  <a:cubicBezTo>
                    <a:pt x="75057" y="1451864"/>
                    <a:pt x="0" y="1376807"/>
                    <a:pt x="0" y="1284351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46607" y="7657719"/>
            <a:ext cx="732282" cy="732282"/>
            <a:chOff x="0" y="0"/>
            <a:chExt cx="976376" cy="9763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16609" y="7827721"/>
            <a:ext cx="392278" cy="392278"/>
            <a:chOff x="0" y="0"/>
            <a:chExt cx="523037" cy="523037"/>
          </a:xfrm>
        </p:grpSpPr>
        <p:sp>
          <p:nvSpPr>
            <p:cNvPr name="Freeform 33" id="33" descr="/home/claude/work/icons/users_white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057400" y="7667244"/>
            <a:ext cx="2331720" cy="713232"/>
            <a:chOff x="0" y="0"/>
            <a:chExt cx="3108960" cy="9509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08960" cy="950976"/>
            </a:xfrm>
            <a:custGeom>
              <a:avLst/>
              <a:gdLst/>
              <a:ahLst/>
              <a:cxnLst/>
              <a:rect r="r" b="b" t="t" l="l"/>
              <a:pathLst>
                <a:path h="95097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1" r="0" b="-1370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10896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IMPACTA 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448175" y="7753731"/>
            <a:ext cx="1898142" cy="485394"/>
            <a:chOff x="0" y="0"/>
            <a:chExt cx="2530856" cy="6471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30856" cy="647192"/>
            </a:xfrm>
            <a:custGeom>
              <a:avLst/>
              <a:gdLst/>
              <a:ahLst/>
              <a:cxnLst/>
              <a:rect r="r" b="b" t="t" l="l"/>
              <a:pathLst>
                <a:path h="647192" w="2530856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lnTo>
                    <a:pt x="2207260" y="0"/>
                  </a:lnTo>
                  <a:cubicBezTo>
                    <a:pt x="2385949" y="0"/>
                    <a:pt x="2530856" y="144907"/>
                    <a:pt x="2530856" y="323596"/>
                  </a:cubicBezTo>
                  <a:cubicBezTo>
                    <a:pt x="2530856" y="502285"/>
                    <a:pt x="2385949" y="647192"/>
                    <a:pt x="2207260" y="647192"/>
                  </a:cubicBezTo>
                  <a:lnTo>
                    <a:pt x="323596" y="647192"/>
                  </a:ln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4457700" y="7763256"/>
            <a:ext cx="1879092" cy="466344"/>
            <a:chOff x="0" y="0"/>
            <a:chExt cx="2505456" cy="621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05456" cy="621792"/>
            </a:xfrm>
            <a:custGeom>
              <a:avLst/>
              <a:gdLst/>
              <a:ahLst/>
              <a:cxnLst/>
              <a:rect r="r" b="b" t="t" l="l"/>
              <a:pathLst>
                <a:path h="621792" w="2505456">
                  <a:moveTo>
                    <a:pt x="0" y="0"/>
                  </a:moveTo>
                  <a:lnTo>
                    <a:pt x="2505456" y="0"/>
                  </a:lnTo>
                  <a:lnTo>
                    <a:pt x="25054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13" r="0" b="-2851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25054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9A520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Administradores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546723" y="7753731"/>
            <a:ext cx="1785671" cy="485394"/>
            <a:chOff x="0" y="0"/>
            <a:chExt cx="2380894" cy="6471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80869" cy="647192"/>
            </a:xfrm>
            <a:custGeom>
              <a:avLst/>
              <a:gdLst/>
              <a:ahLst/>
              <a:cxnLst/>
              <a:rect r="r" b="b" t="t" l="l"/>
              <a:pathLst>
                <a:path h="647192" w="2380869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lnTo>
                    <a:pt x="2057273" y="0"/>
                  </a:lnTo>
                  <a:cubicBezTo>
                    <a:pt x="2235962" y="0"/>
                    <a:pt x="2380869" y="144907"/>
                    <a:pt x="2380869" y="323596"/>
                  </a:cubicBezTo>
                  <a:cubicBezTo>
                    <a:pt x="2380869" y="502285"/>
                    <a:pt x="2235962" y="647192"/>
                    <a:pt x="2057273" y="647192"/>
                  </a:cubicBezTo>
                  <a:lnTo>
                    <a:pt x="323596" y="647192"/>
                  </a:ln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556248" y="7763256"/>
            <a:ext cx="1766621" cy="466344"/>
            <a:chOff x="0" y="0"/>
            <a:chExt cx="2355494" cy="6217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55494" cy="621792"/>
            </a:xfrm>
            <a:custGeom>
              <a:avLst/>
              <a:gdLst/>
              <a:ahLst/>
              <a:cxnLst/>
              <a:rect r="r" b="b" t="t" l="l"/>
              <a:pathLst>
                <a:path h="621792" w="2355494">
                  <a:moveTo>
                    <a:pt x="0" y="0"/>
                  </a:moveTo>
                  <a:lnTo>
                    <a:pt x="2355494" y="0"/>
                  </a:lnTo>
                  <a:lnTo>
                    <a:pt x="235549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13" r="0" b="-2381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355494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9A520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Planificadores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532800" y="7753731"/>
            <a:ext cx="1448257" cy="485394"/>
            <a:chOff x="0" y="0"/>
            <a:chExt cx="1931010" cy="6471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31035" cy="647192"/>
            </a:xfrm>
            <a:custGeom>
              <a:avLst/>
              <a:gdLst/>
              <a:ahLst/>
              <a:cxnLst/>
              <a:rect r="r" b="b" t="t" l="l"/>
              <a:pathLst>
                <a:path h="647192" w="1931035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lnTo>
                    <a:pt x="1607439" y="0"/>
                  </a:lnTo>
                  <a:cubicBezTo>
                    <a:pt x="1786128" y="0"/>
                    <a:pt x="1931035" y="144907"/>
                    <a:pt x="1931035" y="323596"/>
                  </a:cubicBezTo>
                  <a:cubicBezTo>
                    <a:pt x="1931035" y="502285"/>
                    <a:pt x="1786128" y="647192"/>
                    <a:pt x="1607439" y="647192"/>
                  </a:cubicBezTo>
                  <a:lnTo>
                    <a:pt x="323596" y="647192"/>
                  </a:ln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542325" y="7763256"/>
            <a:ext cx="1429207" cy="466344"/>
            <a:chOff x="0" y="0"/>
            <a:chExt cx="1905610" cy="6217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05610" cy="621792"/>
            </a:xfrm>
            <a:custGeom>
              <a:avLst/>
              <a:gdLst/>
              <a:ahLst/>
              <a:cxnLst/>
              <a:rect r="r" b="b" t="t" l="l"/>
              <a:pathLst>
                <a:path h="621792" w="1905610">
                  <a:moveTo>
                    <a:pt x="0" y="0"/>
                  </a:moveTo>
                  <a:lnTo>
                    <a:pt x="1905610" y="0"/>
                  </a:lnTo>
                  <a:lnTo>
                    <a:pt x="190561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15" r="0" b="-971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90561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9A520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Conductores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181463" y="7753731"/>
            <a:ext cx="1223315" cy="485394"/>
            <a:chOff x="0" y="0"/>
            <a:chExt cx="1631086" cy="6471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631061" cy="647192"/>
            </a:xfrm>
            <a:custGeom>
              <a:avLst/>
              <a:gdLst/>
              <a:ahLst/>
              <a:cxnLst/>
              <a:rect r="r" b="b" t="t" l="l"/>
              <a:pathLst>
                <a:path h="647192" w="1631061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lnTo>
                    <a:pt x="1307465" y="0"/>
                  </a:lnTo>
                  <a:cubicBezTo>
                    <a:pt x="1486154" y="0"/>
                    <a:pt x="1631061" y="144907"/>
                    <a:pt x="1631061" y="323596"/>
                  </a:cubicBezTo>
                  <a:cubicBezTo>
                    <a:pt x="1631061" y="502285"/>
                    <a:pt x="1486154" y="647192"/>
                    <a:pt x="1307465" y="647192"/>
                  </a:cubicBezTo>
                  <a:lnTo>
                    <a:pt x="323596" y="647192"/>
                  </a:ln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190988" y="7763256"/>
            <a:ext cx="1204265" cy="466344"/>
            <a:chOff x="0" y="0"/>
            <a:chExt cx="1605686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605686" cy="621792"/>
            </a:xfrm>
            <a:custGeom>
              <a:avLst/>
              <a:gdLst/>
              <a:ahLst/>
              <a:cxnLst/>
              <a:rect r="r" b="b" t="t" l="l"/>
              <a:pathLst>
                <a:path h="621792" w="1605686">
                  <a:moveTo>
                    <a:pt x="0" y="0"/>
                  </a:moveTo>
                  <a:lnTo>
                    <a:pt x="1605686" y="0"/>
                  </a:lnTo>
                  <a:lnTo>
                    <a:pt x="160568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7" r="0" b="-31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60568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9A520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Pasajeros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605184" y="7753731"/>
            <a:ext cx="2123084" cy="485394"/>
            <a:chOff x="0" y="0"/>
            <a:chExt cx="2830779" cy="6471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830830" cy="647192"/>
            </a:xfrm>
            <a:custGeom>
              <a:avLst/>
              <a:gdLst/>
              <a:ahLst/>
              <a:cxnLst/>
              <a:rect r="r" b="b" t="t" l="l"/>
              <a:pathLst>
                <a:path h="647192" w="2830830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lnTo>
                    <a:pt x="2507234" y="0"/>
                  </a:lnTo>
                  <a:cubicBezTo>
                    <a:pt x="2685923" y="0"/>
                    <a:pt x="2830830" y="144907"/>
                    <a:pt x="2830830" y="323596"/>
                  </a:cubicBezTo>
                  <a:cubicBezTo>
                    <a:pt x="2830830" y="502285"/>
                    <a:pt x="2685923" y="647192"/>
                    <a:pt x="2507234" y="647192"/>
                  </a:cubicBezTo>
                  <a:lnTo>
                    <a:pt x="323596" y="647192"/>
                  </a:ln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614709" y="7763256"/>
            <a:ext cx="2104034" cy="466344"/>
            <a:chOff x="0" y="0"/>
            <a:chExt cx="2805379" cy="6217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805380" cy="621792"/>
            </a:xfrm>
            <a:custGeom>
              <a:avLst/>
              <a:gdLst/>
              <a:ahLst/>
              <a:cxnLst/>
              <a:rect r="r" b="b" t="t" l="l"/>
              <a:pathLst>
                <a:path h="621792" w="2805380">
                  <a:moveTo>
                    <a:pt x="0" y="0"/>
                  </a:moveTo>
                  <a:lnTo>
                    <a:pt x="2805380" y="0"/>
                  </a:lnTo>
                  <a:lnTo>
                    <a:pt x="28053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911" r="0" b="-3791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2805379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9A520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Empresas clientes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PERTINENCIA ACADÉMICA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Relación con el perfil de egreso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2221992"/>
            <a:ext cx="16778783" cy="754380"/>
            <a:chOff x="0" y="0"/>
            <a:chExt cx="2237171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7171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3382" r="0" b="-3833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37171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5B6B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El proyecto recorre el ciclo de vida completo del software: levantamiento y análisis de requerimientos, diseño, desarrollo, pruebas e implementación.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4855" y="3419475"/>
            <a:ext cx="3886962" cy="4956810"/>
            <a:chOff x="0" y="0"/>
            <a:chExt cx="5182616" cy="6609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82616" cy="6609080"/>
            </a:xfrm>
            <a:custGeom>
              <a:avLst/>
              <a:gdLst/>
              <a:ahLst/>
              <a:cxnLst/>
              <a:rect r="r" b="b" t="t" l="l"/>
              <a:pathLst>
                <a:path h="6609080" w="5182616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5017262" y="0"/>
                  </a:lnTo>
                  <a:cubicBezTo>
                    <a:pt x="5108575" y="0"/>
                    <a:pt x="5182616" y="74041"/>
                    <a:pt x="5182616" y="165354"/>
                  </a:cubicBezTo>
                  <a:lnTo>
                    <a:pt x="5182616" y="6443726"/>
                  </a:lnTo>
                  <a:cubicBezTo>
                    <a:pt x="5182616" y="6535039"/>
                    <a:pt x="5108575" y="6609080"/>
                    <a:pt x="5017262" y="6609080"/>
                  </a:cubicBezTo>
                  <a:lnTo>
                    <a:pt x="165354" y="6609080"/>
                  </a:lnTo>
                  <a:cubicBezTo>
                    <a:pt x="74041" y="6609080"/>
                    <a:pt x="0" y="6535039"/>
                    <a:pt x="0" y="644372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74039" y="3748659"/>
            <a:ext cx="704850" cy="704850"/>
            <a:chOff x="0" y="0"/>
            <a:chExt cx="939800" cy="939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83564" y="3758184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8C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433191" y="3721227"/>
            <a:ext cx="759714" cy="759714"/>
            <a:chOff x="0" y="0"/>
            <a:chExt cx="1012952" cy="10129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2952" cy="1012952"/>
            </a:xfrm>
            <a:custGeom>
              <a:avLst/>
              <a:gdLst/>
              <a:ahLst/>
              <a:cxnLst/>
              <a:rect r="r" b="b" t="t" l="l"/>
              <a:pathLst>
                <a:path h="1012952" w="1012952">
                  <a:moveTo>
                    <a:pt x="0" y="506476"/>
                  </a:moveTo>
                  <a:cubicBezTo>
                    <a:pt x="0" y="226695"/>
                    <a:pt x="226695" y="0"/>
                    <a:pt x="506476" y="0"/>
                  </a:cubicBezTo>
                  <a:cubicBezTo>
                    <a:pt x="786257" y="0"/>
                    <a:pt x="1012952" y="226695"/>
                    <a:pt x="1012952" y="506476"/>
                  </a:cubicBezTo>
                  <a:cubicBezTo>
                    <a:pt x="1012952" y="786257"/>
                    <a:pt x="786257" y="1012952"/>
                    <a:pt x="506476" y="1012952"/>
                  </a:cubicBezTo>
                  <a:cubicBezTo>
                    <a:pt x="226695" y="1012952"/>
                    <a:pt x="0" y="786257"/>
                    <a:pt x="0" y="506476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609365" y="3897401"/>
            <a:ext cx="407365" cy="407365"/>
            <a:chOff x="0" y="0"/>
            <a:chExt cx="543154" cy="543154"/>
          </a:xfrm>
        </p:grpSpPr>
        <p:sp>
          <p:nvSpPr>
            <p:cNvPr name="Freeform 21" id="21" descr="/home/claude/work/icons/code_white.png"/>
            <p:cNvSpPr/>
            <p:nvPr/>
          </p:nvSpPr>
          <p:spPr>
            <a:xfrm flipH="false" flipV="false" rot="0">
              <a:off x="0" y="0"/>
              <a:ext cx="543179" cy="543179"/>
            </a:xfrm>
            <a:custGeom>
              <a:avLst/>
              <a:gdLst/>
              <a:ahLst/>
              <a:cxnLst/>
              <a:rect r="r" b="b" t="t" l="l"/>
              <a:pathLst>
                <a:path h="543179" w="543179">
                  <a:moveTo>
                    <a:pt x="0" y="0"/>
                  </a:moveTo>
                  <a:lnTo>
                    <a:pt x="543179" y="0"/>
                  </a:lnTo>
                  <a:lnTo>
                    <a:pt x="543179" y="543179"/>
                  </a:lnTo>
                  <a:lnTo>
                    <a:pt x="0" y="543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4" b="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83564" y="4652772"/>
            <a:ext cx="320954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Diseño de soluciones de software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3564" y="5704713"/>
            <a:ext cx="3209544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Aplicando el ciclo de vida del software según las mejores prácticas y estándares de calidad de la industria.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941951" y="3419475"/>
            <a:ext cx="3886962" cy="4956810"/>
            <a:chOff x="0" y="0"/>
            <a:chExt cx="5182616" cy="6609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82616" cy="6609080"/>
            </a:xfrm>
            <a:custGeom>
              <a:avLst/>
              <a:gdLst/>
              <a:ahLst/>
              <a:cxnLst/>
              <a:rect r="r" b="b" t="t" l="l"/>
              <a:pathLst>
                <a:path h="6609080" w="5182616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5017262" y="0"/>
                  </a:lnTo>
                  <a:cubicBezTo>
                    <a:pt x="5108575" y="0"/>
                    <a:pt x="5182616" y="74041"/>
                    <a:pt x="5182616" y="165354"/>
                  </a:cubicBezTo>
                  <a:lnTo>
                    <a:pt x="5182616" y="6443726"/>
                  </a:lnTo>
                  <a:cubicBezTo>
                    <a:pt x="5182616" y="6535039"/>
                    <a:pt x="5108575" y="6609080"/>
                    <a:pt x="5017262" y="6609080"/>
                  </a:cubicBezTo>
                  <a:lnTo>
                    <a:pt x="165354" y="6609080"/>
                  </a:lnTo>
                  <a:cubicBezTo>
                    <a:pt x="74041" y="6609080"/>
                    <a:pt x="0" y="6535039"/>
                    <a:pt x="0" y="644372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271135" y="3748659"/>
            <a:ext cx="704850" cy="704850"/>
            <a:chOff x="0" y="0"/>
            <a:chExt cx="939800" cy="939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280660" y="3758184"/>
            <a:ext cx="685800" cy="685800"/>
            <a:chOff x="0" y="0"/>
            <a:chExt cx="914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8C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630287" y="3721227"/>
            <a:ext cx="759714" cy="759714"/>
            <a:chOff x="0" y="0"/>
            <a:chExt cx="1012952" cy="10129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12952" cy="1012952"/>
            </a:xfrm>
            <a:custGeom>
              <a:avLst/>
              <a:gdLst/>
              <a:ahLst/>
              <a:cxnLst/>
              <a:rect r="r" b="b" t="t" l="l"/>
              <a:pathLst>
                <a:path h="1012952" w="1012952">
                  <a:moveTo>
                    <a:pt x="0" y="506476"/>
                  </a:moveTo>
                  <a:cubicBezTo>
                    <a:pt x="0" y="226695"/>
                    <a:pt x="226695" y="0"/>
                    <a:pt x="506476" y="0"/>
                  </a:cubicBezTo>
                  <a:cubicBezTo>
                    <a:pt x="786257" y="0"/>
                    <a:pt x="1012952" y="226695"/>
                    <a:pt x="1012952" y="506476"/>
                  </a:cubicBezTo>
                  <a:cubicBezTo>
                    <a:pt x="1012952" y="786257"/>
                    <a:pt x="786257" y="1012952"/>
                    <a:pt x="506476" y="1012952"/>
                  </a:cubicBezTo>
                  <a:cubicBezTo>
                    <a:pt x="226695" y="1012952"/>
                    <a:pt x="0" y="786257"/>
                    <a:pt x="0" y="506476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806461" y="3897401"/>
            <a:ext cx="407365" cy="407365"/>
            <a:chOff x="0" y="0"/>
            <a:chExt cx="543154" cy="543154"/>
          </a:xfrm>
        </p:grpSpPr>
        <p:sp>
          <p:nvSpPr>
            <p:cNvPr name="Freeform 34" id="34" descr="/home/claude/work/icons/database_white.png"/>
            <p:cNvSpPr/>
            <p:nvPr/>
          </p:nvSpPr>
          <p:spPr>
            <a:xfrm flipH="false" flipV="false" rot="0">
              <a:off x="0" y="0"/>
              <a:ext cx="543179" cy="543179"/>
            </a:xfrm>
            <a:custGeom>
              <a:avLst/>
              <a:gdLst/>
              <a:ahLst/>
              <a:cxnLst/>
              <a:rect r="r" b="b" t="t" l="l"/>
              <a:pathLst>
                <a:path h="543179" w="543179">
                  <a:moveTo>
                    <a:pt x="0" y="0"/>
                  </a:moveTo>
                  <a:lnTo>
                    <a:pt x="543179" y="0"/>
                  </a:lnTo>
                  <a:lnTo>
                    <a:pt x="543179" y="543179"/>
                  </a:lnTo>
                  <a:lnTo>
                    <a:pt x="0" y="543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5280660" y="4652772"/>
            <a:ext cx="320954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Gestión de bases de datos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280660" y="5704713"/>
            <a:ext cx="3209544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Diseño de soluciones con bases de datos relacionales y no relacionales para resolver los requerimientos de información.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139047" y="3419475"/>
            <a:ext cx="3886962" cy="4956810"/>
            <a:chOff x="0" y="0"/>
            <a:chExt cx="5182616" cy="6609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82616" cy="6609080"/>
            </a:xfrm>
            <a:custGeom>
              <a:avLst/>
              <a:gdLst/>
              <a:ahLst/>
              <a:cxnLst/>
              <a:rect r="r" b="b" t="t" l="l"/>
              <a:pathLst>
                <a:path h="6609080" w="5182616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5017262" y="0"/>
                  </a:lnTo>
                  <a:cubicBezTo>
                    <a:pt x="5108575" y="0"/>
                    <a:pt x="5182616" y="74041"/>
                    <a:pt x="5182616" y="165354"/>
                  </a:cubicBezTo>
                  <a:lnTo>
                    <a:pt x="5182616" y="6443726"/>
                  </a:lnTo>
                  <a:cubicBezTo>
                    <a:pt x="5182616" y="6535039"/>
                    <a:pt x="5108575" y="6609080"/>
                    <a:pt x="5017262" y="6609080"/>
                  </a:cubicBezTo>
                  <a:lnTo>
                    <a:pt x="165354" y="6609080"/>
                  </a:lnTo>
                  <a:cubicBezTo>
                    <a:pt x="74041" y="6609080"/>
                    <a:pt x="0" y="6535039"/>
                    <a:pt x="0" y="644372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468231" y="3748659"/>
            <a:ext cx="704850" cy="704850"/>
            <a:chOff x="0" y="0"/>
            <a:chExt cx="939800" cy="939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477756" y="3758184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8C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827383" y="3721227"/>
            <a:ext cx="759714" cy="759714"/>
            <a:chOff x="0" y="0"/>
            <a:chExt cx="1012952" cy="10129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12952" cy="1012952"/>
            </a:xfrm>
            <a:custGeom>
              <a:avLst/>
              <a:gdLst/>
              <a:ahLst/>
              <a:cxnLst/>
              <a:rect r="r" b="b" t="t" l="l"/>
              <a:pathLst>
                <a:path h="1012952" w="1012952">
                  <a:moveTo>
                    <a:pt x="0" y="506476"/>
                  </a:moveTo>
                  <a:cubicBezTo>
                    <a:pt x="0" y="226695"/>
                    <a:pt x="226695" y="0"/>
                    <a:pt x="506476" y="0"/>
                  </a:cubicBezTo>
                  <a:cubicBezTo>
                    <a:pt x="786257" y="0"/>
                    <a:pt x="1012952" y="226695"/>
                    <a:pt x="1012952" y="506476"/>
                  </a:cubicBezTo>
                  <a:cubicBezTo>
                    <a:pt x="1012952" y="786257"/>
                    <a:pt x="786257" y="1012952"/>
                    <a:pt x="506476" y="1012952"/>
                  </a:cubicBezTo>
                  <a:cubicBezTo>
                    <a:pt x="226695" y="1012952"/>
                    <a:pt x="0" y="786257"/>
                    <a:pt x="0" y="506476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003557" y="3897401"/>
            <a:ext cx="407365" cy="407365"/>
            <a:chOff x="0" y="0"/>
            <a:chExt cx="543154" cy="543154"/>
          </a:xfrm>
        </p:grpSpPr>
        <p:sp>
          <p:nvSpPr>
            <p:cNvPr name="Freeform 47" id="47" descr="/home/claude/work/icons/clipboard_white.png"/>
            <p:cNvSpPr/>
            <p:nvPr/>
          </p:nvSpPr>
          <p:spPr>
            <a:xfrm flipH="false" flipV="false" rot="0">
              <a:off x="0" y="0"/>
              <a:ext cx="543179" cy="543179"/>
            </a:xfrm>
            <a:custGeom>
              <a:avLst/>
              <a:gdLst/>
              <a:ahLst/>
              <a:cxnLst/>
              <a:rect r="r" b="b" t="t" l="l"/>
              <a:pathLst>
                <a:path h="543179" w="543179">
                  <a:moveTo>
                    <a:pt x="0" y="0"/>
                  </a:moveTo>
                  <a:lnTo>
                    <a:pt x="543179" y="0"/>
                  </a:lnTo>
                  <a:lnTo>
                    <a:pt x="543179" y="543179"/>
                  </a:lnTo>
                  <a:lnTo>
                    <a:pt x="0" y="543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477756" y="4652772"/>
            <a:ext cx="320954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Ingeniería de requisitos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77756" y="5704713"/>
            <a:ext cx="3209544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Adaptación de procesos de ingeniería de requisitos con metodologías y estándares de vanguardia.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336143" y="3419475"/>
            <a:ext cx="3886962" cy="4956810"/>
            <a:chOff x="0" y="0"/>
            <a:chExt cx="5182616" cy="6609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82616" cy="6609080"/>
            </a:xfrm>
            <a:custGeom>
              <a:avLst/>
              <a:gdLst/>
              <a:ahLst/>
              <a:cxnLst/>
              <a:rect r="r" b="b" t="t" l="l"/>
              <a:pathLst>
                <a:path h="6609080" w="5182616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5017262" y="0"/>
                  </a:lnTo>
                  <a:cubicBezTo>
                    <a:pt x="5108575" y="0"/>
                    <a:pt x="5182616" y="74041"/>
                    <a:pt x="5182616" y="165354"/>
                  </a:cubicBezTo>
                  <a:lnTo>
                    <a:pt x="5182616" y="6443726"/>
                  </a:lnTo>
                  <a:cubicBezTo>
                    <a:pt x="5182616" y="6535039"/>
                    <a:pt x="5108575" y="6609080"/>
                    <a:pt x="5017262" y="6609080"/>
                  </a:cubicBezTo>
                  <a:lnTo>
                    <a:pt x="165354" y="6609080"/>
                  </a:lnTo>
                  <a:cubicBezTo>
                    <a:pt x="74041" y="6609080"/>
                    <a:pt x="0" y="6535039"/>
                    <a:pt x="0" y="644372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665327" y="3748659"/>
            <a:ext cx="704850" cy="704850"/>
            <a:chOff x="0" y="0"/>
            <a:chExt cx="939800" cy="939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3674852" y="3758184"/>
            <a:ext cx="685800" cy="685800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8C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024479" y="3721227"/>
            <a:ext cx="759714" cy="759714"/>
            <a:chOff x="0" y="0"/>
            <a:chExt cx="1012952" cy="101295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12952" cy="1012952"/>
            </a:xfrm>
            <a:custGeom>
              <a:avLst/>
              <a:gdLst/>
              <a:ahLst/>
              <a:cxnLst/>
              <a:rect r="r" b="b" t="t" l="l"/>
              <a:pathLst>
                <a:path h="1012952" w="1012952">
                  <a:moveTo>
                    <a:pt x="0" y="506476"/>
                  </a:moveTo>
                  <a:cubicBezTo>
                    <a:pt x="0" y="226695"/>
                    <a:pt x="226695" y="0"/>
                    <a:pt x="506476" y="0"/>
                  </a:cubicBezTo>
                  <a:cubicBezTo>
                    <a:pt x="786257" y="0"/>
                    <a:pt x="1012952" y="226695"/>
                    <a:pt x="1012952" y="506476"/>
                  </a:cubicBezTo>
                  <a:cubicBezTo>
                    <a:pt x="1012952" y="786257"/>
                    <a:pt x="786257" y="1012952"/>
                    <a:pt x="506476" y="1012952"/>
                  </a:cubicBezTo>
                  <a:cubicBezTo>
                    <a:pt x="226695" y="1012952"/>
                    <a:pt x="0" y="786257"/>
                    <a:pt x="0" y="506476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6200653" y="3897401"/>
            <a:ext cx="407365" cy="407365"/>
            <a:chOff x="0" y="0"/>
            <a:chExt cx="543154" cy="543154"/>
          </a:xfrm>
        </p:grpSpPr>
        <p:sp>
          <p:nvSpPr>
            <p:cNvPr name="Freeform 60" id="60" descr="/home/claude/work/icons/mobile_white.png"/>
            <p:cNvSpPr/>
            <p:nvPr/>
          </p:nvSpPr>
          <p:spPr>
            <a:xfrm flipH="false" flipV="false" rot="0">
              <a:off x="0" y="0"/>
              <a:ext cx="543179" cy="543179"/>
            </a:xfrm>
            <a:custGeom>
              <a:avLst/>
              <a:gdLst/>
              <a:ahLst/>
              <a:cxnLst/>
              <a:rect r="r" b="b" t="t" l="l"/>
              <a:pathLst>
                <a:path h="543179" w="543179">
                  <a:moveTo>
                    <a:pt x="0" y="0"/>
                  </a:moveTo>
                  <a:lnTo>
                    <a:pt x="543179" y="0"/>
                  </a:lnTo>
                  <a:lnTo>
                    <a:pt x="543179" y="543179"/>
                  </a:lnTo>
                  <a:lnTo>
                    <a:pt x="0" y="543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3674852" y="4652772"/>
            <a:ext cx="320954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Desarrollo de apps móviles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674852" y="5704713"/>
            <a:ext cx="3209544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Proyectos de software para plataformas y dispositivos móviles con frameworks y buenas prácticas.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MOTIVACIÓN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Relación con nuestros intereses profesionales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294763"/>
            <a:ext cx="8934450" cy="6259830"/>
            <a:chOff x="0" y="0"/>
            <a:chExt cx="11912600" cy="8346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12600" cy="8346440"/>
            </a:xfrm>
            <a:custGeom>
              <a:avLst/>
              <a:gdLst/>
              <a:ahLst/>
              <a:cxnLst/>
              <a:rect r="r" b="b" t="t" l="l"/>
              <a:pathLst>
                <a:path h="8346440" w="119126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11747500" y="0"/>
                  </a:lnTo>
                  <a:cubicBezTo>
                    <a:pt x="11838686" y="0"/>
                    <a:pt x="11912600" y="73914"/>
                    <a:pt x="11912600" y="165100"/>
                  </a:cubicBezTo>
                  <a:lnTo>
                    <a:pt x="11912600" y="8181340"/>
                  </a:lnTo>
                  <a:cubicBezTo>
                    <a:pt x="11912600" y="8272526"/>
                    <a:pt x="11838686" y="8346440"/>
                    <a:pt x="11747500" y="8346440"/>
                  </a:cubicBezTo>
                  <a:lnTo>
                    <a:pt x="165100" y="8346440"/>
                  </a:lnTo>
                  <a:cubicBezTo>
                    <a:pt x="73914" y="8346440"/>
                    <a:pt x="0" y="8272526"/>
                    <a:pt x="0" y="8181340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65860" y="2588895"/>
            <a:ext cx="8092440" cy="241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1950">
                <a:solidFill>
                  <a:srgbClr val="122140"/>
                </a:solidFill>
                <a:latin typeface="Calibri (MS)"/>
                <a:ea typeface="Calibri (MS)"/>
                <a:cs typeface="Calibri (MS)"/>
                <a:sym typeface="Calibri (MS)"/>
              </a:rPr>
              <a:t>El proyecto se vincula con nuestro interés por el desarrollo de software, aplicaciones web y móviles, bases de datos y análisis de requerimientos. Nos motiva participar en soluciones tecnológicas que resuelvan problemas reales y mejoren procesos existentes mediante herramientas digitales.</a:t>
            </a:r>
          </a:p>
        </p:txBody>
      </p:sp>
      <p:sp>
        <p:nvSpPr>
          <p:cNvPr name="AutoShape 11" id="11"/>
          <p:cNvSpPr/>
          <p:nvPr/>
        </p:nvSpPr>
        <p:spPr>
          <a:xfrm rot="8100">
            <a:off x="1156325" y="5097590"/>
            <a:ext cx="8111509" cy="0"/>
          </a:xfrm>
          <a:prstGeom prst="line">
            <a:avLst/>
          </a:prstGeom>
          <a:ln cap="rnd" w="9525">
            <a:solidFill>
              <a:srgbClr val="E3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56335" y="5408295"/>
            <a:ext cx="704850" cy="704850"/>
            <a:chOff x="0" y="0"/>
            <a:chExt cx="939800" cy="939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20165" y="5572125"/>
            <a:ext cx="377190" cy="377190"/>
            <a:chOff x="0" y="0"/>
            <a:chExt cx="502920" cy="502920"/>
          </a:xfrm>
        </p:grpSpPr>
        <p:sp>
          <p:nvSpPr>
            <p:cNvPr name="Freeform 15" id="15" descr="/home/claude/work/icons/bulb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125980" y="5273040"/>
            <a:ext cx="7132320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80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Nos permitirá fortalecer competencias técnicas y profesionales frente a un proyecto de mayor alcance: analizar una problemática real, diseñar una solución, desarrollar sus componentes y tomar decisiones de tecnología, arquitectura, seguridad y experiencia de usuario.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18420" y="2304288"/>
            <a:ext cx="7314743" cy="480060"/>
            <a:chOff x="0" y="0"/>
            <a:chExt cx="975299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2990" cy="640080"/>
            </a:xfrm>
            <a:custGeom>
              <a:avLst/>
              <a:gdLst/>
              <a:ahLst/>
              <a:cxnLst/>
              <a:rect r="r" b="b" t="t" l="l"/>
              <a:pathLst>
                <a:path h="640080" w="9752990">
                  <a:moveTo>
                    <a:pt x="0" y="0"/>
                  </a:moveTo>
                  <a:lnTo>
                    <a:pt x="9752990" y="0"/>
                  </a:lnTo>
                  <a:lnTo>
                    <a:pt x="975299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896" r="0" b="-2468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75299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5B6B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ÁREAS DE INTERÉS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08895" y="2870835"/>
            <a:ext cx="7333793" cy="1006602"/>
            <a:chOff x="0" y="0"/>
            <a:chExt cx="9778390" cy="13421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78365" cy="1342136"/>
            </a:xfrm>
            <a:custGeom>
              <a:avLst/>
              <a:gdLst/>
              <a:ahLst/>
              <a:cxnLst/>
              <a:rect r="r" b="b" t="t" l="l"/>
              <a:pathLst>
                <a:path h="1342136" w="9778365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9610598" y="0"/>
                  </a:lnTo>
                  <a:cubicBezTo>
                    <a:pt x="9703308" y="0"/>
                    <a:pt x="9778365" y="75057"/>
                    <a:pt x="9778365" y="167767"/>
                  </a:cubicBezTo>
                  <a:lnTo>
                    <a:pt x="9778365" y="1174369"/>
                  </a:lnTo>
                  <a:cubicBezTo>
                    <a:pt x="9778365" y="1267079"/>
                    <a:pt x="9703308" y="1342136"/>
                    <a:pt x="9610598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428351" y="3021711"/>
            <a:ext cx="704850" cy="704850"/>
            <a:chOff x="0" y="0"/>
            <a:chExt cx="939800" cy="939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592181" y="3185541"/>
            <a:ext cx="377190" cy="377190"/>
            <a:chOff x="0" y="0"/>
            <a:chExt cx="502920" cy="502920"/>
          </a:xfrm>
        </p:grpSpPr>
        <p:sp>
          <p:nvSpPr>
            <p:cNvPr name="Freeform 25" id="25" descr="/home/claude/work/icons/code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343132" y="2880360"/>
            <a:ext cx="5943143" cy="987552"/>
            <a:chOff x="0" y="0"/>
            <a:chExt cx="7924190" cy="13167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2419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924190">
                  <a:moveTo>
                    <a:pt x="0" y="0"/>
                  </a:moveTo>
                  <a:lnTo>
                    <a:pt x="7924190" y="0"/>
                  </a:lnTo>
                  <a:lnTo>
                    <a:pt x="792419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62" r="0" b="-672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92419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 Full-Stack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08895" y="4036695"/>
            <a:ext cx="7333793" cy="1006602"/>
            <a:chOff x="0" y="0"/>
            <a:chExt cx="9778390" cy="13421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78365" cy="1342136"/>
            </a:xfrm>
            <a:custGeom>
              <a:avLst/>
              <a:gdLst/>
              <a:ahLst/>
              <a:cxnLst/>
              <a:rect r="r" b="b" t="t" l="l"/>
              <a:pathLst>
                <a:path h="1342136" w="9778365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9610598" y="0"/>
                  </a:lnTo>
                  <a:cubicBezTo>
                    <a:pt x="9703308" y="0"/>
                    <a:pt x="9778365" y="75057"/>
                    <a:pt x="9778365" y="167767"/>
                  </a:cubicBezTo>
                  <a:lnTo>
                    <a:pt x="9778365" y="1174369"/>
                  </a:lnTo>
                  <a:cubicBezTo>
                    <a:pt x="9778365" y="1267079"/>
                    <a:pt x="9703308" y="1342136"/>
                    <a:pt x="9610598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428351" y="4187571"/>
            <a:ext cx="704850" cy="704850"/>
            <a:chOff x="0" y="0"/>
            <a:chExt cx="939800" cy="939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592181" y="4351401"/>
            <a:ext cx="377190" cy="377190"/>
            <a:chOff x="0" y="0"/>
            <a:chExt cx="502920" cy="502920"/>
          </a:xfrm>
        </p:grpSpPr>
        <p:sp>
          <p:nvSpPr>
            <p:cNvPr name="Freeform 34" id="34" descr="/home/claude/work/icons/mobile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343132" y="4046220"/>
            <a:ext cx="5943143" cy="987552"/>
            <a:chOff x="0" y="0"/>
            <a:chExt cx="7924190" cy="13167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92419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924190">
                  <a:moveTo>
                    <a:pt x="0" y="0"/>
                  </a:moveTo>
                  <a:lnTo>
                    <a:pt x="7924190" y="0"/>
                  </a:lnTo>
                  <a:lnTo>
                    <a:pt x="792419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62" r="0" b="-672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92419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Apps Web y Móviles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08895" y="5202555"/>
            <a:ext cx="7333793" cy="1006602"/>
            <a:chOff x="0" y="0"/>
            <a:chExt cx="9778390" cy="13421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78365" cy="1342136"/>
            </a:xfrm>
            <a:custGeom>
              <a:avLst/>
              <a:gdLst/>
              <a:ahLst/>
              <a:cxnLst/>
              <a:rect r="r" b="b" t="t" l="l"/>
              <a:pathLst>
                <a:path h="1342136" w="9778365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9610598" y="0"/>
                  </a:lnTo>
                  <a:cubicBezTo>
                    <a:pt x="9703308" y="0"/>
                    <a:pt x="9778365" y="75057"/>
                    <a:pt x="9778365" y="167767"/>
                  </a:cubicBezTo>
                  <a:lnTo>
                    <a:pt x="9778365" y="1174369"/>
                  </a:lnTo>
                  <a:cubicBezTo>
                    <a:pt x="9778365" y="1267079"/>
                    <a:pt x="9703308" y="1342136"/>
                    <a:pt x="9610598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428351" y="5353431"/>
            <a:ext cx="704850" cy="704850"/>
            <a:chOff x="0" y="0"/>
            <a:chExt cx="939800" cy="939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592181" y="5517261"/>
            <a:ext cx="377190" cy="377190"/>
            <a:chOff x="0" y="0"/>
            <a:chExt cx="502920" cy="502920"/>
          </a:xfrm>
        </p:grpSpPr>
        <p:sp>
          <p:nvSpPr>
            <p:cNvPr name="Freeform 43" id="43" descr="/home/claude/work/icons/database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343132" y="5212080"/>
            <a:ext cx="5943143" cy="987552"/>
            <a:chOff x="0" y="0"/>
            <a:chExt cx="7924190" cy="13167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92419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924190">
                  <a:moveTo>
                    <a:pt x="0" y="0"/>
                  </a:moveTo>
                  <a:lnTo>
                    <a:pt x="7924190" y="0"/>
                  </a:lnTo>
                  <a:lnTo>
                    <a:pt x="792419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62" r="0" b="-6726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92419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Bases de Datos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08895" y="6368415"/>
            <a:ext cx="7333793" cy="1006602"/>
            <a:chOff x="0" y="0"/>
            <a:chExt cx="9778390" cy="13421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78365" cy="1342136"/>
            </a:xfrm>
            <a:custGeom>
              <a:avLst/>
              <a:gdLst/>
              <a:ahLst/>
              <a:cxnLst/>
              <a:rect r="r" b="b" t="t" l="l"/>
              <a:pathLst>
                <a:path h="1342136" w="9778365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9610598" y="0"/>
                  </a:lnTo>
                  <a:cubicBezTo>
                    <a:pt x="9703308" y="0"/>
                    <a:pt x="9778365" y="75057"/>
                    <a:pt x="9778365" y="167767"/>
                  </a:cubicBezTo>
                  <a:lnTo>
                    <a:pt x="9778365" y="1174369"/>
                  </a:lnTo>
                  <a:cubicBezTo>
                    <a:pt x="9778365" y="1267079"/>
                    <a:pt x="9703308" y="1342136"/>
                    <a:pt x="9610598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428351" y="6519291"/>
            <a:ext cx="704850" cy="704850"/>
            <a:chOff x="0" y="0"/>
            <a:chExt cx="939800" cy="939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592181" y="6683121"/>
            <a:ext cx="377190" cy="377190"/>
            <a:chOff x="0" y="0"/>
            <a:chExt cx="502920" cy="502920"/>
          </a:xfrm>
        </p:grpSpPr>
        <p:sp>
          <p:nvSpPr>
            <p:cNvPr name="Freeform 52" id="52" descr="/home/claude/work/icons/clipboard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343132" y="6377940"/>
            <a:ext cx="5943143" cy="987552"/>
            <a:chOff x="0" y="0"/>
            <a:chExt cx="7924190" cy="13167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92419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924190">
                  <a:moveTo>
                    <a:pt x="0" y="0"/>
                  </a:moveTo>
                  <a:lnTo>
                    <a:pt x="7924190" y="0"/>
                  </a:lnTo>
                  <a:lnTo>
                    <a:pt x="792419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62" r="0" b="-6726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792419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Ingeniería de Requerimientos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208895" y="7534275"/>
            <a:ext cx="7333793" cy="1006602"/>
            <a:chOff x="0" y="0"/>
            <a:chExt cx="9778390" cy="13421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78365" cy="1342136"/>
            </a:xfrm>
            <a:custGeom>
              <a:avLst/>
              <a:gdLst/>
              <a:ahLst/>
              <a:cxnLst/>
              <a:rect r="r" b="b" t="t" l="l"/>
              <a:pathLst>
                <a:path h="1342136" w="9778365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9610598" y="0"/>
                  </a:lnTo>
                  <a:cubicBezTo>
                    <a:pt x="9703308" y="0"/>
                    <a:pt x="9778365" y="75057"/>
                    <a:pt x="9778365" y="167767"/>
                  </a:cubicBezTo>
                  <a:lnTo>
                    <a:pt x="9778365" y="1174369"/>
                  </a:lnTo>
                  <a:cubicBezTo>
                    <a:pt x="9778365" y="1267079"/>
                    <a:pt x="9703308" y="1342136"/>
                    <a:pt x="9610598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0428351" y="7685151"/>
            <a:ext cx="704850" cy="704850"/>
            <a:chOff x="0" y="0"/>
            <a:chExt cx="939800" cy="939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592181" y="7848981"/>
            <a:ext cx="377190" cy="377190"/>
            <a:chOff x="0" y="0"/>
            <a:chExt cx="502920" cy="502920"/>
          </a:xfrm>
        </p:grpSpPr>
        <p:sp>
          <p:nvSpPr>
            <p:cNvPr name="Freeform 61" id="61" descr="/home/claude/work/icons/sitemap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343132" y="7543800"/>
            <a:ext cx="5943143" cy="987552"/>
            <a:chOff x="0" y="0"/>
            <a:chExt cx="7924190" cy="13167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92419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924190">
                  <a:moveTo>
                    <a:pt x="0" y="0"/>
                  </a:moveTo>
                  <a:lnTo>
                    <a:pt x="7924190" y="0"/>
                  </a:lnTo>
                  <a:lnTo>
                    <a:pt x="792419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62" r="0" b="-6726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92419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de Software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ARGUMENTO DE FACTIBILIDAD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¿Por qué es viable dentro del semestre?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349627"/>
            <a:ext cx="5272278" cy="3928110"/>
            <a:chOff x="0" y="0"/>
            <a:chExt cx="7029704" cy="5237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29704" cy="5237480"/>
            </a:xfrm>
            <a:custGeom>
              <a:avLst/>
              <a:gdLst/>
              <a:ahLst/>
              <a:cxnLst/>
              <a:rect r="r" b="b" t="t" l="l"/>
              <a:pathLst>
                <a:path h="5237480" w="7029704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6864350" y="0"/>
                  </a:lnTo>
                  <a:cubicBezTo>
                    <a:pt x="6955663" y="0"/>
                    <a:pt x="7029704" y="74041"/>
                    <a:pt x="7029704" y="165354"/>
                  </a:cubicBezTo>
                  <a:lnTo>
                    <a:pt x="7029704" y="5072126"/>
                  </a:lnTo>
                  <a:cubicBezTo>
                    <a:pt x="7029704" y="5163439"/>
                    <a:pt x="6955663" y="5237480"/>
                    <a:pt x="6864350" y="5237480"/>
                  </a:cubicBezTo>
                  <a:lnTo>
                    <a:pt x="165354" y="5237480"/>
                  </a:lnTo>
                  <a:cubicBezTo>
                    <a:pt x="74041" y="5237480"/>
                    <a:pt x="0" y="5163439"/>
                    <a:pt x="0" y="507212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01471" y="2706243"/>
            <a:ext cx="814578" cy="814578"/>
            <a:chOff x="0" y="0"/>
            <a:chExt cx="1086104" cy="10861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543052"/>
                  </a:moveTo>
                  <a:cubicBezTo>
                    <a:pt x="0" y="243078"/>
                    <a:pt x="243078" y="0"/>
                    <a:pt x="543052" y="0"/>
                  </a:cubicBezTo>
                  <a:cubicBezTo>
                    <a:pt x="843026" y="0"/>
                    <a:pt x="1086104" y="243078"/>
                    <a:pt x="1086104" y="543052"/>
                  </a:cubicBezTo>
                  <a:cubicBezTo>
                    <a:pt x="1086104" y="843026"/>
                    <a:pt x="843026" y="1086104"/>
                    <a:pt x="543052" y="1086104"/>
                  </a:cubicBezTo>
                  <a:cubicBezTo>
                    <a:pt x="243078" y="1086104"/>
                    <a:pt x="0" y="843026"/>
                    <a:pt x="0" y="543052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9990" y="2894762"/>
            <a:ext cx="437540" cy="437540"/>
            <a:chOff x="0" y="0"/>
            <a:chExt cx="583387" cy="583387"/>
          </a:xfrm>
        </p:grpSpPr>
        <p:sp>
          <p:nvSpPr>
            <p:cNvPr name="Freeform 13" id="13" descr="/home/claude/work/icons/layers_white.png"/>
            <p:cNvSpPr/>
            <p:nvPr/>
          </p:nvSpPr>
          <p:spPr>
            <a:xfrm flipH="false" flipV="false" rot="0">
              <a:off x="0" y="0"/>
              <a:ext cx="583438" cy="583438"/>
            </a:xfrm>
            <a:custGeom>
              <a:avLst/>
              <a:gdLst/>
              <a:ahLst/>
              <a:cxnLst/>
              <a:rect r="r" b="b" t="t" l="l"/>
              <a:pathLst>
                <a:path h="583438" w="583438">
                  <a:moveTo>
                    <a:pt x="0" y="0"/>
                  </a:moveTo>
                  <a:lnTo>
                    <a:pt x="583438" y="0"/>
                  </a:lnTo>
                  <a:lnTo>
                    <a:pt x="583438" y="583438"/>
                  </a:lnTo>
                  <a:lnTo>
                    <a:pt x="0" y="583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8" b="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10996" y="3730752"/>
            <a:ext cx="4567428" cy="685800"/>
            <a:chOff x="0" y="0"/>
            <a:chExt cx="6089904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89904" cy="914400"/>
            </a:xfrm>
            <a:custGeom>
              <a:avLst/>
              <a:gdLst/>
              <a:ahLst/>
              <a:cxnLst/>
              <a:rect r="r" b="b" t="t" l="l"/>
              <a:pathLst>
                <a:path h="914400" w="6089904">
                  <a:moveTo>
                    <a:pt x="0" y="0"/>
                  </a:moveTo>
                  <a:lnTo>
                    <a:pt x="6089904" y="0"/>
                  </a:lnTo>
                  <a:lnTo>
                    <a:pt x="60899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770" r="0" b="-7977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089904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Alcance modular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10996" y="4349877"/>
            <a:ext cx="4567428" cy="164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El proyecto se divide en módulos priorizados, definiendo un MVP que cubre los procesos principales.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382131" y="2349627"/>
            <a:ext cx="5272278" cy="3928110"/>
            <a:chOff x="0" y="0"/>
            <a:chExt cx="7029704" cy="5237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9704" cy="5237480"/>
            </a:xfrm>
            <a:custGeom>
              <a:avLst/>
              <a:gdLst/>
              <a:ahLst/>
              <a:cxnLst/>
              <a:rect r="r" b="b" t="t" l="l"/>
              <a:pathLst>
                <a:path h="5237480" w="7029704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6864350" y="0"/>
                  </a:lnTo>
                  <a:cubicBezTo>
                    <a:pt x="6955663" y="0"/>
                    <a:pt x="7029704" y="74041"/>
                    <a:pt x="7029704" y="165354"/>
                  </a:cubicBezTo>
                  <a:lnTo>
                    <a:pt x="7029704" y="5072126"/>
                  </a:lnTo>
                  <a:cubicBezTo>
                    <a:pt x="7029704" y="5163439"/>
                    <a:pt x="6955663" y="5237480"/>
                    <a:pt x="6864350" y="5237480"/>
                  </a:cubicBezTo>
                  <a:lnTo>
                    <a:pt x="165354" y="5237480"/>
                  </a:lnTo>
                  <a:cubicBezTo>
                    <a:pt x="74041" y="5237480"/>
                    <a:pt x="0" y="5163439"/>
                    <a:pt x="0" y="5072126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12214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738747" y="2706243"/>
            <a:ext cx="814578" cy="814578"/>
            <a:chOff x="0" y="0"/>
            <a:chExt cx="1086104" cy="10861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543052"/>
                  </a:moveTo>
                  <a:cubicBezTo>
                    <a:pt x="0" y="243078"/>
                    <a:pt x="243078" y="0"/>
                    <a:pt x="543052" y="0"/>
                  </a:cubicBezTo>
                  <a:cubicBezTo>
                    <a:pt x="843026" y="0"/>
                    <a:pt x="1086104" y="243078"/>
                    <a:pt x="1086104" y="543052"/>
                  </a:cubicBezTo>
                  <a:cubicBezTo>
                    <a:pt x="1086104" y="843026"/>
                    <a:pt x="843026" y="1086104"/>
                    <a:pt x="543052" y="1086104"/>
                  </a:cubicBezTo>
                  <a:cubicBezTo>
                    <a:pt x="243078" y="1086104"/>
                    <a:pt x="0" y="843026"/>
                    <a:pt x="0" y="543052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927266" y="2894762"/>
            <a:ext cx="437540" cy="437540"/>
            <a:chOff x="0" y="0"/>
            <a:chExt cx="583387" cy="583387"/>
          </a:xfrm>
        </p:grpSpPr>
        <p:sp>
          <p:nvSpPr>
            <p:cNvPr name="Freeform 23" id="23" descr="/home/claude/work/icons/cloud_white.png"/>
            <p:cNvSpPr/>
            <p:nvPr/>
          </p:nvSpPr>
          <p:spPr>
            <a:xfrm flipH="false" flipV="false" rot="0">
              <a:off x="0" y="0"/>
              <a:ext cx="583438" cy="583438"/>
            </a:xfrm>
            <a:custGeom>
              <a:avLst/>
              <a:gdLst/>
              <a:ahLst/>
              <a:cxnLst/>
              <a:rect r="r" b="b" t="t" l="l"/>
              <a:pathLst>
                <a:path h="583438" w="583438">
                  <a:moveTo>
                    <a:pt x="0" y="0"/>
                  </a:moveTo>
                  <a:lnTo>
                    <a:pt x="583438" y="0"/>
                  </a:lnTo>
                  <a:lnTo>
                    <a:pt x="583438" y="583438"/>
                  </a:lnTo>
                  <a:lnTo>
                    <a:pt x="0" y="583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8" b="8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748272" y="3730752"/>
            <a:ext cx="4567428" cy="685800"/>
            <a:chOff x="0" y="0"/>
            <a:chExt cx="6089904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89904" cy="914400"/>
            </a:xfrm>
            <a:custGeom>
              <a:avLst/>
              <a:gdLst/>
              <a:ahLst/>
              <a:cxnLst/>
              <a:rect r="r" b="b" t="t" l="l"/>
              <a:pathLst>
                <a:path h="914400" w="6089904">
                  <a:moveTo>
                    <a:pt x="0" y="0"/>
                  </a:moveTo>
                  <a:lnTo>
                    <a:pt x="6089904" y="0"/>
                  </a:lnTo>
                  <a:lnTo>
                    <a:pt x="60899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770" r="0" b="-7977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089904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Recursos disponibles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748272" y="4349877"/>
            <a:ext cx="4567428" cy="164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CBD6EA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Tecnologías y servicios con alternativas gratuitas; el equipo cuenta con los recursos y conocimientos técnicos necesarios.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19407" y="2349627"/>
            <a:ext cx="5272278" cy="3928110"/>
            <a:chOff x="0" y="0"/>
            <a:chExt cx="7029704" cy="5237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29704" cy="5237480"/>
            </a:xfrm>
            <a:custGeom>
              <a:avLst/>
              <a:gdLst/>
              <a:ahLst/>
              <a:cxnLst/>
              <a:rect r="r" b="b" t="t" l="l"/>
              <a:pathLst>
                <a:path h="5237480" w="7029704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6864350" y="0"/>
                  </a:lnTo>
                  <a:cubicBezTo>
                    <a:pt x="6955663" y="0"/>
                    <a:pt x="7029704" y="74041"/>
                    <a:pt x="7029704" y="165354"/>
                  </a:cubicBezTo>
                  <a:lnTo>
                    <a:pt x="7029704" y="5072126"/>
                  </a:lnTo>
                  <a:cubicBezTo>
                    <a:pt x="7029704" y="5163439"/>
                    <a:pt x="6955663" y="5237480"/>
                    <a:pt x="6864350" y="5237480"/>
                  </a:cubicBezTo>
                  <a:lnTo>
                    <a:pt x="165354" y="5237480"/>
                  </a:lnTo>
                  <a:cubicBezTo>
                    <a:pt x="74041" y="5237480"/>
                    <a:pt x="0" y="5163439"/>
                    <a:pt x="0" y="507212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376023" y="2706243"/>
            <a:ext cx="814578" cy="814578"/>
            <a:chOff x="0" y="0"/>
            <a:chExt cx="1086104" cy="10861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543052"/>
                  </a:moveTo>
                  <a:cubicBezTo>
                    <a:pt x="0" y="243078"/>
                    <a:pt x="243078" y="0"/>
                    <a:pt x="543052" y="0"/>
                  </a:cubicBezTo>
                  <a:cubicBezTo>
                    <a:pt x="843026" y="0"/>
                    <a:pt x="1086104" y="243078"/>
                    <a:pt x="1086104" y="543052"/>
                  </a:cubicBezTo>
                  <a:cubicBezTo>
                    <a:pt x="1086104" y="843026"/>
                    <a:pt x="843026" y="1086104"/>
                    <a:pt x="543052" y="1086104"/>
                  </a:cubicBezTo>
                  <a:cubicBezTo>
                    <a:pt x="243078" y="1086104"/>
                    <a:pt x="0" y="843026"/>
                    <a:pt x="0" y="543052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564542" y="2894762"/>
            <a:ext cx="437540" cy="437540"/>
            <a:chOff x="0" y="0"/>
            <a:chExt cx="583387" cy="583387"/>
          </a:xfrm>
        </p:grpSpPr>
        <p:sp>
          <p:nvSpPr>
            <p:cNvPr name="Freeform 33" id="33" descr="/home/claude/work/icons/shield_white.png"/>
            <p:cNvSpPr/>
            <p:nvPr/>
          </p:nvSpPr>
          <p:spPr>
            <a:xfrm flipH="false" flipV="false" rot="0">
              <a:off x="0" y="0"/>
              <a:ext cx="583438" cy="583438"/>
            </a:xfrm>
            <a:custGeom>
              <a:avLst/>
              <a:gdLst/>
              <a:ahLst/>
              <a:cxnLst/>
              <a:rect r="r" b="b" t="t" l="l"/>
              <a:pathLst>
                <a:path h="583438" w="583438">
                  <a:moveTo>
                    <a:pt x="0" y="0"/>
                  </a:moveTo>
                  <a:lnTo>
                    <a:pt x="583438" y="0"/>
                  </a:lnTo>
                  <a:lnTo>
                    <a:pt x="583438" y="583438"/>
                  </a:lnTo>
                  <a:lnTo>
                    <a:pt x="0" y="583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8" b="8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385548" y="3730752"/>
            <a:ext cx="4567428" cy="685800"/>
            <a:chOff x="0" y="0"/>
            <a:chExt cx="6089904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89904" cy="914400"/>
            </a:xfrm>
            <a:custGeom>
              <a:avLst/>
              <a:gdLst/>
              <a:ahLst/>
              <a:cxnLst/>
              <a:rect r="r" b="b" t="t" l="l"/>
              <a:pathLst>
                <a:path h="914400" w="6089904">
                  <a:moveTo>
                    <a:pt x="0" y="0"/>
                  </a:moveTo>
                  <a:lnTo>
                    <a:pt x="6089904" y="0"/>
                  </a:lnTo>
                  <a:lnTo>
                    <a:pt x="60899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770" r="0" b="-7977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089904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Riesgos controlados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385548" y="4349877"/>
            <a:ext cx="4567428" cy="164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El tiempo y el alcance multicomponente se mitigan priorizando funcionalidades esenciales y distribuyendo el trabajo.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44855" y="6670167"/>
            <a:ext cx="16797833" cy="1596390"/>
            <a:chOff x="0" y="0"/>
            <a:chExt cx="22397110" cy="2128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397211" cy="2128520"/>
            </a:xfrm>
            <a:custGeom>
              <a:avLst/>
              <a:gdLst/>
              <a:ahLst/>
              <a:cxnLst/>
              <a:rect r="r" b="b" t="t" l="l"/>
              <a:pathLst>
                <a:path h="2128520" w="22397211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22230587" y="0"/>
                  </a:lnTo>
                  <a:cubicBezTo>
                    <a:pt x="22322535" y="0"/>
                    <a:pt x="22397211" y="74549"/>
                    <a:pt x="22397211" y="166624"/>
                  </a:cubicBezTo>
                  <a:lnTo>
                    <a:pt x="22397211" y="1961896"/>
                  </a:lnTo>
                  <a:cubicBezTo>
                    <a:pt x="22397211" y="2053844"/>
                    <a:pt x="22322662" y="2128520"/>
                    <a:pt x="22230587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74039" y="6971919"/>
            <a:ext cx="773430" cy="773430"/>
            <a:chOff x="0" y="0"/>
            <a:chExt cx="1031240" cy="1031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53300" y="7151180"/>
            <a:ext cx="414909" cy="414909"/>
            <a:chOff x="0" y="0"/>
            <a:chExt cx="553212" cy="553212"/>
          </a:xfrm>
        </p:grpSpPr>
        <p:sp>
          <p:nvSpPr>
            <p:cNvPr name="Freeform 43" id="43" descr="/home/claude/work/icons/users_white.png"/>
            <p:cNvSpPr/>
            <p:nvPr/>
          </p:nvSpPr>
          <p:spPr>
            <a:xfrm flipH="false" flipV="false" rot="0">
              <a:off x="0" y="0"/>
              <a:ext cx="553212" cy="553212"/>
            </a:xfrm>
            <a:custGeom>
              <a:avLst/>
              <a:gdLst/>
              <a:ahLst/>
              <a:cxnLst/>
              <a:rect r="r" b="b" t="t" l="l"/>
              <a:pathLst>
                <a:path h="553212" w="553212">
                  <a:moveTo>
                    <a:pt x="0" y="0"/>
                  </a:moveTo>
                  <a:lnTo>
                    <a:pt x="553212" y="0"/>
                  </a:lnTo>
                  <a:lnTo>
                    <a:pt x="553212" y="553212"/>
                  </a:lnTo>
                  <a:lnTo>
                    <a:pt x="0" y="553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098548" y="6885432"/>
            <a:ext cx="6858000" cy="480060"/>
            <a:chOff x="0" y="0"/>
            <a:chExt cx="914400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75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DISTRIBUCIÓN DEL TRABAJO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098548" y="7326249"/>
            <a:ext cx="1513286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Angelina Mendoza: </a:t>
            </a:r>
            <a:r>
              <a:rPr lang="en-US" sz="172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web administrativa y dashboard   ·   </a:t>
            </a:r>
            <a:r>
              <a:rPr lang="en-US" sz="1725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Paloma Tamayo: </a:t>
            </a:r>
            <a:r>
              <a:rPr lang="en-US" sz="172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app móvil y base de datos no relacional   ·   </a:t>
            </a:r>
            <a:r>
              <a:rPr lang="en-US" sz="1725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 y BD relacional: </a:t>
            </a:r>
            <a:r>
              <a:rPr lang="en-US" sz="172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distribuidos por módulos entre ambas.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OBJETIVOS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 general y objetivos específicos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253615"/>
            <a:ext cx="16797833" cy="1596390"/>
            <a:chOff x="0" y="0"/>
            <a:chExt cx="22397110" cy="2128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97211" cy="2128520"/>
            </a:xfrm>
            <a:custGeom>
              <a:avLst/>
              <a:gdLst/>
              <a:ahLst/>
              <a:cxnLst/>
              <a:rect r="r" b="b" t="t" l="l"/>
              <a:pathLst>
                <a:path h="2128520" w="22397211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22230587" y="0"/>
                  </a:lnTo>
                  <a:cubicBezTo>
                    <a:pt x="22322535" y="0"/>
                    <a:pt x="22397211" y="74549"/>
                    <a:pt x="22397211" y="166624"/>
                  </a:cubicBezTo>
                  <a:lnTo>
                    <a:pt x="22397211" y="1961896"/>
                  </a:lnTo>
                  <a:cubicBezTo>
                    <a:pt x="22397211" y="2053844"/>
                    <a:pt x="22322662" y="2128520"/>
                    <a:pt x="22230587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12214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74039" y="2555367"/>
            <a:ext cx="869442" cy="869442"/>
            <a:chOff x="0" y="0"/>
            <a:chExt cx="1159256" cy="11592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925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59256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cubicBezTo>
                    <a:pt x="899795" y="0"/>
                    <a:pt x="1159256" y="259461"/>
                    <a:pt x="1159256" y="579628"/>
                  </a:cubicBezTo>
                  <a:cubicBezTo>
                    <a:pt x="1159256" y="899795"/>
                    <a:pt x="899795" y="1159256"/>
                    <a:pt x="579628" y="1159256"/>
                  </a:cubicBezTo>
                  <a:cubicBezTo>
                    <a:pt x="259461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74902" y="2756230"/>
            <a:ext cx="467716" cy="467716"/>
            <a:chOff x="0" y="0"/>
            <a:chExt cx="623621" cy="623621"/>
          </a:xfrm>
        </p:grpSpPr>
        <p:sp>
          <p:nvSpPr>
            <p:cNvPr name="Freeform 13" id="13" descr="/home/claude/work/icons/rocket_white.png"/>
            <p:cNvSpPr/>
            <p:nvPr/>
          </p:nvSpPr>
          <p:spPr>
            <a:xfrm flipH="false" flipV="false" rot="0">
              <a:off x="0" y="0"/>
              <a:ext cx="623570" cy="623570"/>
            </a:xfrm>
            <a:custGeom>
              <a:avLst/>
              <a:gdLst/>
              <a:ahLst/>
              <a:cxnLst/>
              <a:rect r="r" b="b" t="t" l="l"/>
              <a:pathLst>
                <a:path h="623570" w="623570">
                  <a:moveTo>
                    <a:pt x="0" y="0"/>
                  </a:moveTo>
                  <a:lnTo>
                    <a:pt x="623570" y="0"/>
                  </a:lnTo>
                  <a:lnTo>
                    <a:pt x="623570" y="623570"/>
                  </a:lnTo>
                  <a:lnTo>
                    <a:pt x="0" y="623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" b="-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4560" y="2400300"/>
            <a:ext cx="5486400" cy="438912"/>
            <a:chOff x="0" y="0"/>
            <a:chExt cx="731520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585216"/>
            </a:xfrm>
            <a:custGeom>
              <a:avLst/>
              <a:gdLst/>
              <a:ahLst/>
              <a:cxnLst/>
              <a:rect r="r" b="b" t="t" l="l"/>
              <a:pathLst>
                <a:path h="58521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315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49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194560" y="2768346"/>
            <a:ext cx="14995703" cy="98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Desarrollar una plataforma web y móvil para la gestión del transporte de personal, que apoye la planificación de rutas, controle la asistencia efectiva de los pasajeros y centralice la información de los servicios realizados.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54380" y="4183380"/>
            <a:ext cx="8229600" cy="438912"/>
            <a:chOff x="0" y="0"/>
            <a:chExt cx="1097280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5B6B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 ESPECÍFICOS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4855" y="4722495"/>
            <a:ext cx="457962" cy="457962"/>
            <a:chOff x="0" y="0"/>
            <a:chExt cx="610616" cy="6106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53135" y="4830775"/>
            <a:ext cx="241402" cy="241402"/>
            <a:chOff x="0" y="0"/>
            <a:chExt cx="321869" cy="321869"/>
          </a:xfrm>
        </p:grpSpPr>
        <p:sp>
          <p:nvSpPr>
            <p:cNvPr name="Freeform 24" id="24" descr="/home/claude/work/icons/check_navy.png"/>
            <p:cNvSpPr/>
            <p:nvPr/>
          </p:nvSpPr>
          <p:spPr>
            <a:xfrm flipH="false" flipV="false" rot="0">
              <a:off x="0" y="0"/>
              <a:ext cx="321818" cy="321818"/>
            </a:xfrm>
            <a:custGeom>
              <a:avLst/>
              <a:gdLst/>
              <a:ahLst/>
              <a:cxnLst/>
              <a:rect r="r" b="b" t="t" l="l"/>
              <a:pathLst>
                <a:path h="321818" w="321818">
                  <a:moveTo>
                    <a:pt x="0" y="0"/>
                  </a:moveTo>
                  <a:lnTo>
                    <a:pt x="321818" y="0"/>
                  </a:lnTo>
                  <a:lnTo>
                    <a:pt x="321818" y="321818"/>
                  </a:lnTo>
                  <a:lnTo>
                    <a:pt x="0" y="32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" b="-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57884" y="4649724"/>
            <a:ext cx="7283196" cy="795528"/>
            <a:chOff x="0" y="0"/>
            <a:chExt cx="9710928" cy="10607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10928" cy="1060704"/>
            </a:xfrm>
            <a:custGeom>
              <a:avLst/>
              <a:gdLst/>
              <a:ahLst/>
              <a:cxnLst/>
              <a:rect r="r" b="b" t="t" l="l"/>
              <a:pathLst>
                <a:path h="106070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388" r="0" b="-12838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710928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221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Centralizar la gestión de empresas clientes, pasajeros, conductores, vehículos, rutas y servicios.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4855" y="5518023"/>
            <a:ext cx="457962" cy="457962"/>
            <a:chOff x="0" y="0"/>
            <a:chExt cx="610616" cy="6106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53135" y="5626303"/>
            <a:ext cx="241402" cy="241402"/>
            <a:chOff x="0" y="0"/>
            <a:chExt cx="321869" cy="321869"/>
          </a:xfrm>
        </p:grpSpPr>
        <p:sp>
          <p:nvSpPr>
            <p:cNvPr name="Freeform 31" id="31" descr="/home/claude/work/icons/check_navy.png"/>
            <p:cNvSpPr/>
            <p:nvPr/>
          </p:nvSpPr>
          <p:spPr>
            <a:xfrm flipH="false" flipV="false" rot="0">
              <a:off x="0" y="0"/>
              <a:ext cx="321818" cy="321818"/>
            </a:xfrm>
            <a:custGeom>
              <a:avLst/>
              <a:gdLst/>
              <a:ahLst/>
              <a:cxnLst/>
              <a:rect r="r" b="b" t="t" l="l"/>
              <a:pathLst>
                <a:path h="321818" w="321818">
                  <a:moveTo>
                    <a:pt x="0" y="0"/>
                  </a:moveTo>
                  <a:lnTo>
                    <a:pt x="321818" y="0"/>
                  </a:lnTo>
                  <a:lnTo>
                    <a:pt x="321818" y="321818"/>
                  </a:lnTo>
                  <a:lnTo>
                    <a:pt x="0" y="32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" b="-1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57884" y="5445252"/>
            <a:ext cx="7283196" cy="795528"/>
            <a:chOff x="0" y="0"/>
            <a:chExt cx="9710928" cy="10607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10928" cy="1060704"/>
            </a:xfrm>
            <a:custGeom>
              <a:avLst/>
              <a:gdLst/>
              <a:ahLst/>
              <a:cxnLst/>
              <a:rect r="r" b="b" t="t" l="l"/>
              <a:pathLst>
                <a:path h="106070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388" r="0" b="-12838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710928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221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Apoyar la planificación y gestión de rutas según los requerimientos de cada servicio.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44855" y="6313551"/>
            <a:ext cx="457962" cy="457962"/>
            <a:chOff x="0" y="0"/>
            <a:chExt cx="610616" cy="6106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53135" y="6421831"/>
            <a:ext cx="241402" cy="241402"/>
            <a:chOff x="0" y="0"/>
            <a:chExt cx="321869" cy="321869"/>
          </a:xfrm>
        </p:grpSpPr>
        <p:sp>
          <p:nvSpPr>
            <p:cNvPr name="Freeform 38" id="38" descr="/home/claude/work/icons/check_navy.png"/>
            <p:cNvSpPr/>
            <p:nvPr/>
          </p:nvSpPr>
          <p:spPr>
            <a:xfrm flipH="false" flipV="false" rot="0">
              <a:off x="0" y="0"/>
              <a:ext cx="321818" cy="321818"/>
            </a:xfrm>
            <a:custGeom>
              <a:avLst/>
              <a:gdLst/>
              <a:ahLst/>
              <a:cxnLst/>
              <a:rect r="r" b="b" t="t" l="l"/>
              <a:pathLst>
                <a:path h="321818" w="321818">
                  <a:moveTo>
                    <a:pt x="0" y="0"/>
                  </a:moveTo>
                  <a:lnTo>
                    <a:pt x="321818" y="0"/>
                  </a:lnTo>
                  <a:lnTo>
                    <a:pt x="321818" y="321818"/>
                  </a:lnTo>
                  <a:lnTo>
                    <a:pt x="0" y="32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" b="-1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57884" y="6240780"/>
            <a:ext cx="7283196" cy="795528"/>
            <a:chOff x="0" y="0"/>
            <a:chExt cx="9710928" cy="10607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710928" cy="1060704"/>
            </a:xfrm>
            <a:custGeom>
              <a:avLst/>
              <a:gdLst/>
              <a:ahLst/>
              <a:cxnLst/>
              <a:rect r="r" b="b" t="t" l="l"/>
              <a:pathLst>
                <a:path h="106070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388" r="0" b="-12838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710928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221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Controlar la asistencia mediante códigos QR para registrar el uso efectivo de cada servicio.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44855" y="7109079"/>
            <a:ext cx="457962" cy="457962"/>
            <a:chOff x="0" y="0"/>
            <a:chExt cx="610616" cy="6106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53135" y="7217359"/>
            <a:ext cx="241402" cy="241402"/>
            <a:chOff x="0" y="0"/>
            <a:chExt cx="321869" cy="321869"/>
          </a:xfrm>
        </p:grpSpPr>
        <p:sp>
          <p:nvSpPr>
            <p:cNvPr name="Freeform 45" id="45" descr="/home/claude/work/icons/check_navy.png"/>
            <p:cNvSpPr/>
            <p:nvPr/>
          </p:nvSpPr>
          <p:spPr>
            <a:xfrm flipH="false" flipV="false" rot="0">
              <a:off x="0" y="0"/>
              <a:ext cx="321818" cy="321818"/>
            </a:xfrm>
            <a:custGeom>
              <a:avLst/>
              <a:gdLst/>
              <a:ahLst/>
              <a:cxnLst/>
              <a:rect r="r" b="b" t="t" l="l"/>
              <a:pathLst>
                <a:path h="321818" w="321818">
                  <a:moveTo>
                    <a:pt x="0" y="0"/>
                  </a:moveTo>
                  <a:lnTo>
                    <a:pt x="321818" y="0"/>
                  </a:lnTo>
                  <a:lnTo>
                    <a:pt x="321818" y="321818"/>
                  </a:lnTo>
                  <a:lnTo>
                    <a:pt x="0" y="32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" b="-1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57884" y="7036308"/>
            <a:ext cx="7283196" cy="795528"/>
            <a:chOff x="0" y="0"/>
            <a:chExt cx="9710928" cy="10607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10928" cy="1060704"/>
            </a:xfrm>
            <a:custGeom>
              <a:avLst/>
              <a:gdLst/>
              <a:ahLst/>
              <a:cxnLst/>
              <a:rect r="r" b="b" t="t" l="l"/>
              <a:pathLst>
                <a:path h="106070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388" r="0" b="-12838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710928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221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una plataforma web administrativa con dashboard de indicadores.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17355" y="4722495"/>
            <a:ext cx="457962" cy="457962"/>
            <a:chOff x="0" y="0"/>
            <a:chExt cx="610616" cy="6106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425635" y="4830775"/>
            <a:ext cx="241402" cy="241402"/>
            <a:chOff x="0" y="0"/>
            <a:chExt cx="321869" cy="321869"/>
          </a:xfrm>
        </p:grpSpPr>
        <p:sp>
          <p:nvSpPr>
            <p:cNvPr name="Freeform 52" id="52" descr="/home/claude/work/icons/check_navy.png"/>
            <p:cNvSpPr/>
            <p:nvPr/>
          </p:nvSpPr>
          <p:spPr>
            <a:xfrm flipH="false" flipV="false" rot="0">
              <a:off x="0" y="0"/>
              <a:ext cx="321818" cy="321818"/>
            </a:xfrm>
            <a:custGeom>
              <a:avLst/>
              <a:gdLst/>
              <a:ahLst/>
              <a:cxnLst/>
              <a:rect r="r" b="b" t="t" l="l"/>
              <a:pathLst>
                <a:path h="321818" w="321818">
                  <a:moveTo>
                    <a:pt x="0" y="0"/>
                  </a:moveTo>
                  <a:lnTo>
                    <a:pt x="321818" y="0"/>
                  </a:lnTo>
                  <a:lnTo>
                    <a:pt x="321818" y="321818"/>
                  </a:lnTo>
                  <a:lnTo>
                    <a:pt x="0" y="32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" b="-15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930384" y="4649724"/>
            <a:ext cx="7283196" cy="795528"/>
            <a:chOff x="0" y="0"/>
            <a:chExt cx="9710928" cy="10607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10928" cy="1060704"/>
            </a:xfrm>
            <a:custGeom>
              <a:avLst/>
              <a:gdLst/>
              <a:ahLst/>
              <a:cxnLst/>
              <a:rect r="r" b="b" t="t" l="l"/>
              <a:pathLst>
                <a:path h="106070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388" r="0" b="-12838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710928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221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una app móvil para que conductores y pasajeros interactúen con sus servicios.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17355" y="5518023"/>
            <a:ext cx="457962" cy="457962"/>
            <a:chOff x="0" y="0"/>
            <a:chExt cx="610616" cy="6106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425635" y="5626303"/>
            <a:ext cx="241402" cy="241402"/>
            <a:chOff x="0" y="0"/>
            <a:chExt cx="321869" cy="321869"/>
          </a:xfrm>
        </p:grpSpPr>
        <p:sp>
          <p:nvSpPr>
            <p:cNvPr name="Freeform 59" id="59" descr="/home/claude/work/icons/check_navy.png"/>
            <p:cNvSpPr/>
            <p:nvPr/>
          </p:nvSpPr>
          <p:spPr>
            <a:xfrm flipH="false" flipV="false" rot="0">
              <a:off x="0" y="0"/>
              <a:ext cx="321818" cy="321818"/>
            </a:xfrm>
            <a:custGeom>
              <a:avLst/>
              <a:gdLst/>
              <a:ahLst/>
              <a:cxnLst/>
              <a:rect r="r" b="b" t="t" l="l"/>
              <a:pathLst>
                <a:path h="321818" w="321818">
                  <a:moveTo>
                    <a:pt x="0" y="0"/>
                  </a:moveTo>
                  <a:lnTo>
                    <a:pt x="321818" y="0"/>
                  </a:lnTo>
                  <a:lnTo>
                    <a:pt x="321818" y="321818"/>
                  </a:lnTo>
                  <a:lnTo>
                    <a:pt x="0" y="32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" b="-15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930384" y="5445252"/>
            <a:ext cx="7283196" cy="795528"/>
            <a:chOff x="0" y="0"/>
            <a:chExt cx="9710928" cy="106070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10928" cy="1060704"/>
            </a:xfrm>
            <a:custGeom>
              <a:avLst/>
              <a:gdLst/>
              <a:ahLst/>
              <a:cxnLst/>
              <a:rect r="r" b="b" t="t" l="l"/>
              <a:pathLst>
                <a:path h="106070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388" r="0" b="-12838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9710928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221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Generar reportes y planillas mensuales a partir de servicios y asistencias registradas.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317355" y="6313551"/>
            <a:ext cx="457962" cy="457962"/>
            <a:chOff x="0" y="0"/>
            <a:chExt cx="610616" cy="6106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425635" y="6421831"/>
            <a:ext cx="241402" cy="241402"/>
            <a:chOff x="0" y="0"/>
            <a:chExt cx="321869" cy="321869"/>
          </a:xfrm>
        </p:grpSpPr>
        <p:sp>
          <p:nvSpPr>
            <p:cNvPr name="Freeform 66" id="66" descr="/home/claude/work/icons/check_navy.png"/>
            <p:cNvSpPr/>
            <p:nvPr/>
          </p:nvSpPr>
          <p:spPr>
            <a:xfrm flipH="false" flipV="false" rot="0">
              <a:off x="0" y="0"/>
              <a:ext cx="321818" cy="321818"/>
            </a:xfrm>
            <a:custGeom>
              <a:avLst/>
              <a:gdLst/>
              <a:ahLst/>
              <a:cxnLst/>
              <a:rect r="r" b="b" t="t" l="l"/>
              <a:pathLst>
                <a:path h="321818" w="321818">
                  <a:moveTo>
                    <a:pt x="0" y="0"/>
                  </a:moveTo>
                  <a:lnTo>
                    <a:pt x="321818" y="0"/>
                  </a:lnTo>
                  <a:lnTo>
                    <a:pt x="321818" y="321818"/>
                  </a:lnTo>
                  <a:lnTo>
                    <a:pt x="0" y="32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" b="-15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930384" y="6240780"/>
            <a:ext cx="7283196" cy="795528"/>
            <a:chOff x="0" y="0"/>
            <a:chExt cx="9710928" cy="106070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710928" cy="1060704"/>
            </a:xfrm>
            <a:custGeom>
              <a:avLst/>
              <a:gdLst/>
              <a:ahLst/>
              <a:cxnLst/>
              <a:rect r="r" b="b" t="t" l="l"/>
              <a:pathLst>
                <a:path h="106070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388" r="0" b="-12838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9710928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221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autenticación y control de acceso según el tipo de usuario.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· METODOLOGÍA DE TRABAJO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Kanban con tablero en Notion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47160">
            <a:off x="1901057" y="2973705"/>
            <a:ext cx="2775728" cy="0"/>
          </a:xfrm>
          <a:prstGeom prst="line">
            <a:avLst/>
          </a:prstGeom>
          <a:ln cap="rnd" w="19050">
            <a:solidFill>
              <a:srgbClr val="E3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744855" y="2390775"/>
            <a:ext cx="1184910" cy="1184910"/>
            <a:chOff x="0" y="0"/>
            <a:chExt cx="1579880" cy="1579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79880" cy="1579880"/>
            </a:xfrm>
            <a:custGeom>
              <a:avLst/>
              <a:gdLst/>
              <a:ahLst/>
              <a:cxnLst/>
              <a:rect r="r" b="b" t="t" l="l"/>
              <a:pathLst>
                <a:path h="1579880" w="1579880">
                  <a:moveTo>
                    <a:pt x="0" y="789940"/>
                  </a:moveTo>
                  <a:cubicBezTo>
                    <a:pt x="0" y="353695"/>
                    <a:pt x="353695" y="0"/>
                    <a:pt x="789940" y="0"/>
                  </a:cubicBezTo>
                  <a:cubicBezTo>
                    <a:pt x="1226185" y="0"/>
                    <a:pt x="1579880" y="353695"/>
                    <a:pt x="1579880" y="789940"/>
                  </a:cubicBezTo>
                  <a:cubicBezTo>
                    <a:pt x="1579880" y="1226185"/>
                    <a:pt x="1226185" y="1579880"/>
                    <a:pt x="789940" y="1579880"/>
                  </a:cubicBezTo>
                  <a:cubicBezTo>
                    <a:pt x="353695" y="1579880"/>
                    <a:pt x="0" y="1226185"/>
                    <a:pt x="0" y="78994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45845" y="2691765"/>
            <a:ext cx="582930" cy="582930"/>
            <a:chOff x="0" y="0"/>
            <a:chExt cx="777240" cy="777240"/>
          </a:xfrm>
        </p:grpSpPr>
        <p:sp>
          <p:nvSpPr>
            <p:cNvPr name="Freeform 12" id="12" descr="/home/claude/work/icons/clipboard_white.png"/>
            <p:cNvSpPr/>
            <p:nvPr/>
          </p:nvSpPr>
          <p:spPr>
            <a:xfrm flipH="false" flipV="false" rot="0">
              <a:off x="0" y="0"/>
              <a:ext cx="777240" cy="777240"/>
            </a:xfrm>
            <a:custGeom>
              <a:avLst/>
              <a:gdLst/>
              <a:ahLst/>
              <a:cxnLst/>
              <a:rect r="r" b="b" t="t" l="l"/>
              <a:pathLst>
                <a:path h="777240" w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25805" y="2371725"/>
            <a:ext cx="1223010" cy="1223010"/>
            <a:chOff x="0" y="0"/>
            <a:chExt cx="1630680" cy="1630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30680" cy="1630680"/>
            </a:xfrm>
            <a:custGeom>
              <a:avLst/>
              <a:gdLst/>
              <a:ahLst/>
              <a:cxnLst/>
              <a:rect r="r" b="b" t="t" l="l"/>
              <a:pathLst>
                <a:path h="1630680" w="1630680">
                  <a:moveTo>
                    <a:pt x="0" y="815340"/>
                  </a:moveTo>
                  <a:cubicBezTo>
                    <a:pt x="0" y="364998"/>
                    <a:pt x="364998" y="0"/>
                    <a:pt x="815340" y="0"/>
                  </a:cubicBezTo>
                  <a:cubicBezTo>
                    <a:pt x="1265682" y="0"/>
                    <a:pt x="1630680" y="364998"/>
                    <a:pt x="1630680" y="815340"/>
                  </a:cubicBezTo>
                  <a:cubicBezTo>
                    <a:pt x="1630680" y="1265682"/>
                    <a:pt x="1265682" y="1630680"/>
                    <a:pt x="815340" y="1630680"/>
                  </a:cubicBezTo>
                  <a:cubicBezTo>
                    <a:pt x="364998" y="1630680"/>
                    <a:pt x="0" y="1265682"/>
                    <a:pt x="0" y="81534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81328" y="2263140"/>
            <a:ext cx="438912" cy="438912"/>
            <a:chOff x="0" y="0"/>
            <a:chExt cx="585216" cy="585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E8C8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74320" y="3702177"/>
            <a:ext cx="212598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Levantamiento y análisis</a:t>
            </a:r>
          </a:p>
        </p:txBody>
      </p:sp>
      <p:sp>
        <p:nvSpPr>
          <p:cNvPr name="AutoShape 19" id="19"/>
          <p:cNvSpPr/>
          <p:nvPr/>
        </p:nvSpPr>
        <p:spPr>
          <a:xfrm rot="47160">
            <a:off x="5804287" y="2973705"/>
            <a:ext cx="2775728" cy="0"/>
          </a:xfrm>
          <a:prstGeom prst="line">
            <a:avLst/>
          </a:prstGeom>
          <a:ln cap="rnd" w="19050">
            <a:solidFill>
              <a:srgbClr val="E3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4648086" y="2390775"/>
            <a:ext cx="1184910" cy="1184910"/>
            <a:chOff x="0" y="0"/>
            <a:chExt cx="1579880" cy="1579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79880" cy="1579880"/>
            </a:xfrm>
            <a:custGeom>
              <a:avLst/>
              <a:gdLst/>
              <a:ahLst/>
              <a:cxnLst/>
              <a:rect r="r" b="b" t="t" l="l"/>
              <a:pathLst>
                <a:path h="1579880" w="1579880">
                  <a:moveTo>
                    <a:pt x="0" y="789940"/>
                  </a:moveTo>
                  <a:cubicBezTo>
                    <a:pt x="0" y="353695"/>
                    <a:pt x="353695" y="0"/>
                    <a:pt x="789940" y="0"/>
                  </a:cubicBezTo>
                  <a:cubicBezTo>
                    <a:pt x="1226185" y="0"/>
                    <a:pt x="1579880" y="353695"/>
                    <a:pt x="1579880" y="789940"/>
                  </a:cubicBezTo>
                  <a:cubicBezTo>
                    <a:pt x="1579880" y="1226185"/>
                    <a:pt x="1226185" y="1579880"/>
                    <a:pt x="789940" y="1579880"/>
                  </a:cubicBezTo>
                  <a:cubicBezTo>
                    <a:pt x="353695" y="1579880"/>
                    <a:pt x="0" y="1226185"/>
                    <a:pt x="0" y="78994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949076" y="2691765"/>
            <a:ext cx="582930" cy="582930"/>
            <a:chOff x="0" y="0"/>
            <a:chExt cx="777240" cy="777240"/>
          </a:xfrm>
        </p:grpSpPr>
        <p:sp>
          <p:nvSpPr>
            <p:cNvPr name="Freeform 23" id="23" descr="/home/claude/work/icons/code_white.png"/>
            <p:cNvSpPr/>
            <p:nvPr/>
          </p:nvSpPr>
          <p:spPr>
            <a:xfrm flipH="false" flipV="false" rot="0">
              <a:off x="0" y="0"/>
              <a:ext cx="777240" cy="777240"/>
            </a:xfrm>
            <a:custGeom>
              <a:avLst/>
              <a:gdLst/>
              <a:ahLst/>
              <a:cxnLst/>
              <a:rect r="r" b="b" t="t" l="l"/>
              <a:pathLst>
                <a:path h="777240" w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629036" y="2371725"/>
            <a:ext cx="1223010" cy="1223010"/>
            <a:chOff x="0" y="0"/>
            <a:chExt cx="1630680" cy="1630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30680" cy="1630680"/>
            </a:xfrm>
            <a:custGeom>
              <a:avLst/>
              <a:gdLst/>
              <a:ahLst/>
              <a:cxnLst/>
              <a:rect r="r" b="b" t="t" l="l"/>
              <a:pathLst>
                <a:path h="1630680" w="1630680">
                  <a:moveTo>
                    <a:pt x="0" y="815340"/>
                  </a:moveTo>
                  <a:cubicBezTo>
                    <a:pt x="0" y="364998"/>
                    <a:pt x="364998" y="0"/>
                    <a:pt x="815340" y="0"/>
                  </a:cubicBezTo>
                  <a:cubicBezTo>
                    <a:pt x="1265682" y="0"/>
                    <a:pt x="1630680" y="364998"/>
                    <a:pt x="1630680" y="815340"/>
                  </a:cubicBezTo>
                  <a:cubicBezTo>
                    <a:pt x="1630680" y="1265682"/>
                    <a:pt x="1265682" y="1630680"/>
                    <a:pt x="815340" y="1630680"/>
                  </a:cubicBezTo>
                  <a:cubicBezTo>
                    <a:pt x="364998" y="1630680"/>
                    <a:pt x="0" y="1265682"/>
                    <a:pt x="0" y="81534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384559" y="2263140"/>
            <a:ext cx="438912" cy="438912"/>
            <a:chOff x="0" y="0"/>
            <a:chExt cx="585216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E8C8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177551" y="3702177"/>
            <a:ext cx="212598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Diseño</a:t>
            </a:r>
          </a:p>
        </p:txBody>
      </p:sp>
      <p:sp>
        <p:nvSpPr>
          <p:cNvPr name="AutoShape 30" id="30"/>
          <p:cNvSpPr/>
          <p:nvPr/>
        </p:nvSpPr>
        <p:spPr>
          <a:xfrm rot="47160">
            <a:off x="9707518" y="2973705"/>
            <a:ext cx="2775728" cy="0"/>
          </a:xfrm>
          <a:prstGeom prst="line">
            <a:avLst/>
          </a:prstGeom>
          <a:ln cap="rnd" w="19050">
            <a:solidFill>
              <a:srgbClr val="E3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8551316" y="2390775"/>
            <a:ext cx="1184910" cy="1184910"/>
            <a:chOff x="0" y="0"/>
            <a:chExt cx="1579880" cy="1579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79880" cy="1579880"/>
            </a:xfrm>
            <a:custGeom>
              <a:avLst/>
              <a:gdLst/>
              <a:ahLst/>
              <a:cxnLst/>
              <a:rect r="r" b="b" t="t" l="l"/>
              <a:pathLst>
                <a:path h="1579880" w="1579880">
                  <a:moveTo>
                    <a:pt x="0" y="789940"/>
                  </a:moveTo>
                  <a:cubicBezTo>
                    <a:pt x="0" y="353695"/>
                    <a:pt x="353695" y="0"/>
                    <a:pt x="789940" y="0"/>
                  </a:cubicBezTo>
                  <a:cubicBezTo>
                    <a:pt x="1226185" y="0"/>
                    <a:pt x="1579880" y="353695"/>
                    <a:pt x="1579880" y="789940"/>
                  </a:cubicBezTo>
                  <a:cubicBezTo>
                    <a:pt x="1579880" y="1226185"/>
                    <a:pt x="1226185" y="1579880"/>
                    <a:pt x="789940" y="1579880"/>
                  </a:cubicBezTo>
                  <a:cubicBezTo>
                    <a:pt x="353695" y="1579880"/>
                    <a:pt x="0" y="1226185"/>
                    <a:pt x="0" y="78994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852306" y="2691765"/>
            <a:ext cx="582930" cy="582930"/>
            <a:chOff x="0" y="0"/>
            <a:chExt cx="777240" cy="777240"/>
          </a:xfrm>
        </p:grpSpPr>
        <p:sp>
          <p:nvSpPr>
            <p:cNvPr name="Freeform 34" id="34" descr="/home/claude/work/icons/cogs_white.png"/>
            <p:cNvSpPr/>
            <p:nvPr/>
          </p:nvSpPr>
          <p:spPr>
            <a:xfrm flipH="false" flipV="false" rot="0">
              <a:off x="0" y="0"/>
              <a:ext cx="777240" cy="777240"/>
            </a:xfrm>
            <a:custGeom>
              <a:avLst/>
              <a:gdLst/>
              <a:ahLst/>
              <a:cxnLst/>
              <a:rect r="r" b="b" t="t" l="l"/>
              <a:pathLst>
                <a:path h="777240" w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532266" y="2371725"/>
            <a:ext cx="1223010" cy="1223010"/>
            <a:chOff x="0" y="0"/>
            <a:chExt cx="1630680" cy="1630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30680" cy="1630680"/>
            </a:xfrm>
            <a:custGeom>
              <a:avLst/>
              <a:gdLst/>
              <a:ahLst/>
              <a:cxnLst/>
              <a:rect r="r" b="b" t="t" l="l"/>
              <a:pathLst>
                <a:path h="1630680" w="1630680">
                  <a:moveTo>
                    <a:pt x="0" y="815340"/>
                  </a:moveTo>
                  <a:cubicBezTo>
                    <a:pt x="0" y="364998"/>
                    <a:pt x="364998" y="0"/>
                    <a:pt x="815340" y="0"/>
                  </a:cubicBezTo>
                  <a:cubicBezTo>
                    <a:pt x="1265682" y="0"/>
                    <a:pt x="1630680" y="364998"/>
                    <a:pt x="1630680" y="815340"/>
                  </a:cubicBezTo>
                  <a:cubicBezTo>
                    <a:pt x="1630680" y="1265682"/>
                    <a:pt x="1265682" y="1630680"/>
                    <a:pt x="815340" y="1630680"/>
                  </a:cubicBezTo>
                  <a:cubicBezTo>
                    <a:pt x="364998" y="1630680"/>
                    <a:pt x="0" y="1265682"/>
                    <a:pt x="0" y="81534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287789" y="2263140"/>
            <a:ext cx="438912" cy="438912"/>
            <a:chOff x="0" y="0"/>
            <a:chExt cx="585216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E8C8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8080781" y="3702177"/>
            <a:ext cx="212598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Desarrollo</a:t>
            </a:r>
          </a:p>
        </p:txBody>
      </p:sp>
      <p:sp>
        <p:nvSpPr>
          <p:cNvPr name="AutoShape 41" id="41"/>
          <p:cNvSpPr/>
          <p:nvPr/>
        </p:nvSpPr>
        <p:spPr>
          <a:xfrm rot="47160">
            <a:off x="13610749" y="2973705"/>
            <a:ext cx="2775728" cy="0"/>
          </a:xfrm>
          <a:prstGeom prst="line">
            <a:avLst/>
          </a:prstGeom>
          <a:ln cap="rnd" w="19050">
            <a:solidFill>
              <a:srgbClr val="E3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12454547" y="2390775"/>
            <a:ext cx="1184910" cy="1184910"/>
            <a:chOff x="0" y="0"/>
            <a:chExt cx="1579880" cy="15798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79880" cy="1579880"/>
            </a:xfrm>
            <a:custGeom>
              <a:avLst/>
              <a:gdLst/>
              <a:ahLst/>
              <a:cxnLst/>
              <a:rect r="r" b="b" t="t" l="l"/>
              <a:pathLst>
                <a:path h="1579880" w="1579880">
                  <a:moveTo>
                    <a:pt x="0" y="789940"/>
                  </a:moveTo>
                  <a:cubicBezTo>
                    <a:pt x="0" y="353695"/>
                    <a:pt x="353695" y="0"/>
                    <a:pt x="789940" y="0"/>
                  </a:cubicBezTo>
                  <a:cubicBezTo>
                    <a:pt x="1226185" y="0"/>
                    <a:pt x="1579880" y="353695"/>
                    <a:pt x="1579880" y="789940"/>
                  </a:cubicBezTo>
                  <a:cubicBezTo>
                    <a:pt x="1579880" y="1226185"/>
                    <a:pt x="1226185" y="1579880"/>
                    <a:pt x="789940" y="1579880"/>
                  </a:cubicBezTo>
                  <a:cubicBezTo>
                    <a:pt x="353695" y="1579880"/>
                    <a:pt x="0" y="1226185"/>
                    <a:pt x="0" y="78994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755537" y="2691765"/>
            <a:ext cx="582930" cy="582930"/>
            <a:chOff x="0" y="0"/>
            <a:chExt cx="777240" cy="777240"/>
          </a:xfrm>
        </p:grpSpPr>
        <p:sp>
          <p:nvSpPr>
            <p:cNvPr name="Freeform 45" id="45" descr="/home/claude/work/icons/layers_white.png"/>
            <p:cNvSpPr/>
            <p:nvPr/>
          </p:nvSpPr>
          <p:spPr>
            <a:xfrm flipH="false" flipV="false" rot="0">
              <a:off x="0" y="0"/>
              <a:ext cx="777240" cy="777240"/>
            </a:xfrm>
            <a:custGeom>
              <a:avLst/>
              <a:gdLst/>
              <a:ahLst/>
              <a:cxnLst/>
              <a:rect r="r" b="b" t="t" l="l"/>
              <a:pathLst>
                <a:path h="777240" w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35497" y="2371725"/>
            <a:ext cx="1223010" cy="1223010"/>
            <a:chOff x="0" y="0"/>
            <a:chExt cx="1630680" cy="16306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30680" cy="1630680"/>
            </a:xfrm>
            <a:custGeom>
              <a:avLst/>
              <a:gdLst/>
              <a:ahLst/>
              <a:cxnLst/>
              <a:rect r="r" b="b" t="t" l="l"/>
              <a:pathLst>
                <a:path h="1630680" w="1630680">
                  <a:moveTo>
                    <a:pt x="0" y="815340"/>
                  </a:moveTo>
                  <a:cubicBezTo>
                    <a:pt x="0" y="364998"/>
                    <a:pt x="364998" y="0"/>
                    <a:pt x="815340" y="0"/>
                  </a:cubicBezTo>
                  <a:cubicBezTo>
                    <a:pt x="1265682" y="0"/>
                    <a:pt x="1630680" y="364998"/>
                    <a:pt x="1630680" y="815340"/>
                  </a:cubicBezTo>
                  <a:cubicBezTo>
                    <a:pt x="1630680" y="1265682"/>
                    <a:pt x="1265682" y="1630680"/>
                    <a:pt x="815340" y="1630680"/>
                  </a:cubicBezTo>
                  <a:cubicBezTo>
                    <a:pt x="364998" y="1630680"/>
                    <a:pt x="0" y="1265682"/>
                    <a:pt x="0" y="81534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3191020" y="2263140"/>
            <a:ext cx="438912" cy="438912"/>
            <a:chOff x="0" y="0"/>
            <a:chExt cx="585216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E8C82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984012" y="3702177"/>
            <a:ext cx="212598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Integración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6357778" y="2390775"/>
            <a:ext cx="1184910" cy="1184910"/>
            <a:chOff x="0" y="0"/>
            <a:chExt cx="1579880" cy="15798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79880" cy="1579880"/>
            </a:xfrm>
            <a:custGeom>
              <a:avLst/>
              <a:gdLst/>
              <a:ahLst/>
              <a:cxnLst/>
              <a:rect r="r" b="b" t="t" l="l"/>
              <a:pathLst>
                <a:path h="1579880" w="1579880">
                  <a:moveTo>
                    <a:pt x="0" y="789940"/>
                  </a:moveTo>
                  <a:cubicBezTo>
                    <a:pt x="0" y="353695"/>
                    <a:pt x="353695" y="0"/>
                    <a:pt x="789940" y="0"/>
                  </a:cubicBezTo>
                  <a:cubicBezTo>
                    <a:pt x="1226185" y="0"/>
                    <a:pt x="1579880" y="353695"/>
                    <a:pt x="1579880" y="789940"/>
                  </a:cubicBezTo>
                  <a:cubicBezTo>
                    <a:pt x="1579880" y="1226185"/>
                    <a:pt x="1226185" y="1579880"/>
                    <a:pt x="789940" y="1579880"/>
                  </a:cubicBezTo>
                  <a:cubicBezTo>
                    <a:pt x="353695" y="1579880"/>
                    <a:pt x="0" y="1226185"/>
                    <a:pt x="0" y="789940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6658768" y="2691765"/>
            <a:ext cx="582930" cy="582930"/>
            <a:chOff x="0" y="0"/>
            <a:chExt cx="777240" cy="777240"/>
          </a:xfrm>
        </p:grpSpPr>
        <p:sp>
          <p:nvSpPr>
            <p:cNvPr name="Freeform 55" id="55" descr="/home/claude/work/icons/check_white.png"/>
            <p:cNvSpPr/>
            <p:nvPr/>
          </p:nvSpPr>
          <p:spPr>
            <a:xfrm flipH="false" flipV="false" rot="0">
              <a:off x="0" y="0"/>
              <a:ext cx="777240" cy="777240"/>
            </a:xfrm>
            <a:custGeom>
              <a:avLst/>
              <a:gdLst/>
              <a:ahLst/>
              <a:cxnLst/>
              <a:rect r="r" b="b" t="t" l="l"/>
              <a:pathLst>
                <a:path h="777240" w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6338728" y="2371725"/>
            <a:ext cx="1223010" cy="1223010"/>
            <a:chOff x="0" y="0"/>
            <a:chExt cx="1630680" cy="1630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30680" cy="1630680"/>
            </a:xfrm>
            <a:custGeom>
              <a:avLst/>
              <a:gdLst/>
              <a:ahLst/>
              <a:cxnLst/>
              <a:rect r="r" b="b" t="t" l="l"/>
              <a:pathLst>
                <a:path h="1630680" w="1630680">
                  <a:moveTo>
                    <a:pt x="0" y="815340"/>
                  </a:moveTo>
                  <a:cubicBezTo>
                    <a:pt x="0" y="364998"/>
                    <a:pt x="364998" y="0"/>
                    <a:pt x="815340" y="0"/>
                  </a:cubicBezTo>
                  <a:cubicBezTo>
                    <a:pt x="1265682" y="0"/>
                    <a:pt x="1630680" y="364998"/>
                    <a:pt x="1630680" y="815340"/>
                  </a:cubicBezTo>
                  <a:cubicBezTo>
                    <a:pt x="1630680" y="1265682"/>
                    <a:pt x="1265682" y="1630680"/>
                    <a:pt x="815340" y="1630680"/>
                  </a:cubicBezTo>
                  <a:cubicBezTo>
                    <a:pt x="364998" y="1630680"/>
                    <a:pt x="0" y="1265682"/>
                    <a:pt x="0" y="81534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7094251" y="2263140"/>
            <a:ext cx="438912" cy="438912"/>
            <a:chOff x="0" y="0"/>
            <a:chExt cx="585216" cy="5852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E8C82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5887243" y="3702177"/>
            <a:ext cx="212598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Pruebas y validación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754380" y="4594860"/>
            <a:ext cx="8229600" cy="438912"/>
            <a:chOff x="0" y="0"/>
            <a:chExt cx="10972800" cy="58521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5B6B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ESTADOS DEL TABLERO KANBAN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44855" y="5133975"/>
            <a:ext cx="1223315" cy="595122"/>
            <a:chOff x="0" y="0"/>
            <a:chExt cx="1631086" cy="7934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631061" cy="793496"/>
            </a:xfrm>
            <a:custGeom>
              <a:avLst/>
              <a:gdLst/>
              <a:ahLst/>
              <a:cxnLst/>
              <a:rect r="r" b="b" t="t" l="l"/>
              <a:pathLst>
                <a:path h="793496" w="1631061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1234313" y="0"/>
                  </a:lnTo>
                  <a:cubicBezTo>
                    <a:pt x="1453388" y="0"/>
                    <a:pt x="1631061" y="177673"/>
                    <a:pt x="1631061" y="396748"/>
                  </a:cubicBezTo>
                  <a:cubicBezTo>
                    <a:pt x="1631061" y="615823"/>
                    <a:pt x="1453515" y="793496"/>
                    <a:pt x="1234313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E7EAF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754380" y="5143500"/>
            <a:ext cx="1204265" cy="576072"/>
            <a:chOff x="0" y="0"/>
            <a:chExt cx="1605686" cy="76809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605686" cy="768096"/>
            </a:xfrm>
            <a:custGeom>
              <a:avLst/>
              <a:gdLst/>
              <a:ahLst/>
              <a:cxnLst/>
              <a:rect r="r" b="b" t="t" l="l"/>
              <a:pathLst>
                <a:path h="768096" w="1605686">
                  <a:moveTo>
                    <a:pt x="0" y="0"/>
                  </a:moveTo>
                  <a:lnTo>
                    <a:pt x="1605686" y="0"/>
                  </a:lnTo>
                  <a:lnTo>
                    <a:pt x="160568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75" t="0" r="-11375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605686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4452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Pendiente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250872" y="5133975"/>
            <a:ext cx="1673200" cy="595122"/>
            <a:chOff x="0" y="0"/>
            <a:chExt cx="2230933" cy="7934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30882" cy="793496"/>
            </a:xfrm>
            <a:custGeom>
              <a:avLst/>
              <a:gdLst/>
              <a:ahLst/>
              <a:cxnLst/>
              <a:rect r="r" b="b" t="t" l="l"/>
              <a:pathLst>
                <a:path h="793496" w="2230882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1834134" y="0"/>
                  </a:lnTo>
                  <a:cubicBezTo>
                    <a:pt x="2053209" y="0"/>
                    <a:pt x="2230882" y="177673"/>
                    <a:pt x="2230882" y="396748"/>
                  </a:cubicBezTo>
                  <a:cubicBezTo>
                    <a:pt x="2230882" y="615823"/>
                    <a:pt x="2053209" y="793496"/>
                    <a:pt x="1834134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2260397" y="5143500"/>
            <a:ext cx="1654150" cy="576072"/>
            <a:chOff x="0" y="0"/>
            <a:chExt cx="2205533" cy="7680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05532" cy="768096"/>
            </a:xfrm>
            <a:custGeom>
              <a:avLst/>
              <a:gdLst/>
              <a:ahLst/>
              <a:cxnLst/>
              <a:rect r="r" b="b" t="t" l="l"/>
              <a:pathLst>
                <a:path h="768096" w="2205532">
                  <a:moveTo>
                    <a:pt x="0" y="0"/>
                  </a:moveTo>
                  <a:lnTo>
                    <a:pt x="2205532" y="0"/>
                  </a:lnTo>
                  <a:lnTo>
                    <a:pt x="220553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49" r="0" b="-594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205533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9A520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desarrollo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206773" y="5133975"/>
            <a:ext cx="1448257" cy="595122"/>
            <a:chOff x="0" y="0"/>
            <a:chExt cx="1931010" cy="79349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31035" cy="793496"/>
            </a:xfrm>
            <a:custGeom>
              <a:avLst/>
              <a:gdLst/>
              <a:ahLst/>
              <a:cxnLst/>
              <a:rect r="r" b="b" t="t" l="l"/>
              <a:pathLst>
                <a:path h="793496" w="1931035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1534287" y="0"/>
                  </a:lnTo>
                  <a:cubicBezTo>
                    <a:pt x="1753362" y="0"/>
                    <a:pt x="1931035" y="177673"/>
                    <a:pt x="1931035" y="396748"/>
                  </a:cubicBezTo>
                  <a:cubicBezTo>
                    <a:pt x="1931035" y="615823"/>
                    <a:pt x="1753362" y="793496"/>
                    <a:pt x="1534287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E4ECF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4216298" y="5143500"/>
            <a:ext cx="1429207" cy="576072"/>
            <a:chOff x="0" y="0"/>
            <a:chExt cx="1905610" cy="76809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905610" cy="768096"/>
            </a:xfrm>
            <a:custGeom>
              <a:avLst/>
              <a:gdLst/>
              <a:ahLst/>
              <a:cxnLst/>
              <a:rect r="r" b="b" t="t" l="l"/>
              <a:pathLst>
                <a:path h="768096" w="1905610">
                  <a:moveTo>
                    <a:pt x="0" y="0"/>
                  </a:moveTo>
                  <a:lnTo>
                    <a:pt x="1905610" y="0"/>
                  </a:lnTo>
                  <a:lnTo>
                    <a:pt x="190561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15" t="0" r="-1715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90561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D4F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revisión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937733" y="5133975"/>
            <a:ext cx="1335786" cy="595122"/>
            <a:chOff x="0" y="0"/>
            <a:chExt cx="1781048" cy="7934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81048" cy="793496"/>
            </a:xfrm>
            <a:custGeom>
              <a:avLst/>
              <a:gdLst/>
              <a:ahLst/>
              <a:cxnLst/>
              <a:rect r="r" b="b" t="t" l="l"/>
              <a:pathLst>
                <a:path h="793496" w="1781048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1384300" y="0"/>
                  </a:lnTo>
                  <a:cubicBezTo>
                    <a:pt x="1603375" y="0"/>
                    <a:pt x="1781048" y="177673"/>
                    <a:pt x="1781048" y="396748"/>
                  </a:cubicBezTo>
                  <a:cubicBezTo>
                    <a:pt x="1781048" y="615823"/>
                    <a:pt x="1603375" y="793496"/>
                    <a:pt x="1384300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5947258" y="5143500"/>
            <a:ext cx="1316736" cy="576072"/>
            <a:chOff x="0" y="0"/>
            <a:chExt cx="1755648" cy="76809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755648" cy="768096"/>
            </a:xfrm>
            <a:custGeom>
              <a:avLst/>
              <a:gdLst/>
              <a:ahLst/>
              <a:cxnLst/>
              <a:rect r="r" b="b" t="t" l="l"/>
              <a:pathLst>
                <a:path h="768096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755648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E6E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Finalizado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44855" y="5956935"/>
            <a:ext cx="5279295" cy="3647219"/>
            <a:chOff x="0" y="0"/>
            <a:chExt cx="7029704" cy="485649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029704" cy="4856495"/>
            </a:xfrm>
            <a:custGeom>
              <a:avLst/>
              <a:gdLst/>
              <a:ahLst/>
              <a:cxnLst/>
              <a:rect r="r" b="b" t="t" l="l"/>
              <a:pathLst>
                <a:path h="4856495" w="7029704">
                  <a:moveTo>
                    <a:pt x="0" y="249708"/>
                  </a:moveTo>
                  <a:cubicBezTo>
                    <a:pt x="0" y="111852"/>
                    <a:pt x="74295" y="0"/>
                    <a:pt x="165862" y="0"/>
                  </a:cubicBezTo>
                  <a:lnTo>
                    <a:pt x="6863842" y="0"/>
                  </a:lnTo>
                  <a:cubicBezTo>
                    <a:pt x="6955410" y="0"/>
                    <a:pt x="7029704" y="111852"/>
                    <a:pt x="7029704" y="249708"/>
                  </a:cubicBezTo>
                  <a:lnTo>
                    <a:pt x="7029704" y="4606787"/>
                  </a:lnTo>
                  <a:cubicBezTo>
                    <a:pt x="7029704" y="4744643"/>
                    <a:pt x="6955410" y="4856495"/>
                    <a:pt x="6863842" y="4856495"/>
                  </a:cubicBezTo>
                  <a:lnTo>
                    <a:pt x="165862" y="4856495"/>
                  </a:lnTo>
                  <a:cubicBezTo>
                    <a:pt x="74295" y="4856495"/>
                    <a:pt x="0" y="4744643"/>
                    <a:pt x="0" y="4606787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047009" y="6259089"/>
            <a:ext cx="650851" cy="650851"/>
            <a:chOff x="0" y="0"/>
            <a:chExt cx="866648" cy="86664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198696" y="6410776"/>
            <a:ext cx="347477" cy="347477"/>
            <a:chOff x="0" y="0"/>
            <a:chExt cx="462686" cy="462686"/>
          </a:xfrm>
        </p:grpSpPr>
        <p:sp>
          <p:nvSpPr>
            <p:cNvPr name="Freeform 90" id="90" descr="/home/claude/work/icons/clock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5" b="-5"/>
              </a:stretch>
            </a:blipFill>
          </p:spPr>
        </p:sp>
      </p:grpSp>
      <p:sp>
        <p:nvSpPr>
          <p:cNvPr name="TextBox 91" id="91"/>
          <p:cNvSpPr txBox="true"/>
          <p:nvPr/>
        </p:nvSpPr>
        <p:spPr>
          <a:xfrm rot="0">
            <a:off x="1056546" y="6997432"/>
            <a:ext cx="4655912" cy="167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0"/>
              </a:lnSpc>
            </a:pPr>
            <a:r>
              <a:rPr lang="en-US" sz="2377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Cada actividad tiene responsable, prioridad y fecha asociada, manteniendo trazabilidad durante el semestre.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6389634" y="5956935"/>
            <a:ext cx="5279295" cy="3647219"/>
            <a:chOff x="0" y="0"/>
            <a:chExt cx="7029704" cy="485649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029704" cy="4856495"/>
            </a:xfrm>
            <a:custGeom>
              <a:avLst/>
              <a:gdLst/>
              <a:ahLst/>
              <a:cxnLst/>
              <a:rect r="r" b="b" t="t" l="l"/>
              <a:pathLst>
                <a:path h="4856495" w="7029704">
                  <a:moveTo>
                    <a:pt x="0" y="249708"/>
                  </a:moveTo>
                  <a:cubicBezTo>
                    <a:pt x="0" y="111852"/>
                    <a:pt x="74295" y="0"/>
                    <a:pt x="165862" y="0"/>
                  </a:cubicBezTo>
                  <a:lnTo>
                    <a:pt x="6863842" y="0"/>
                  </a:lnTo>
                  <a:cubicBezTo>
                    <a:pt x="6955410" y="0"/>
                    <a:pt x="7029704" y="111852"/>
                    <a:pt x="7029704" y="249708"/>
                  </a:cubicBezTo>
                  <a:lnTo>
                    <a:pt x="7029704" y="4606787"/>
                  </a:lnTo>
                  <a:cubicBezTo>
                    <a:pt x="7029704" y="4744643"/>
                    <a:pt x="6955410" y="4856495"/>
                    <a:pt x="6863842" y="4856495"/>
                  </a:cubicBezTo>
                  <a:lnTo>
                    <a:pt x="165862" y="4856495"/>
                  </a:lnTo>
                  <a:cubicBezTo>
                    <a:pt x="74295" y="4856495"/>
                    <a:pt x="0" y="4744643"/>
                    <a:pt x="0" y="4606787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6691787" y="6259089"/>
            <a:ext cx="650851" cy="650851"/>
            <a:chOff x="0" y="0"/>
            <a:chExt cx="866648" cy="86664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6843474" y="6410776"/>
            <a:ext cx="347477" cy="347477"/>
            <a:chOff x="0" y="0"/>
            <a:chExt cx="462686" cy="462686"/>
          </a:xfrm>
        </p:grpSpPr>
        <p:sp>
          <p:nvSpPr>
            <p:cNvPr name="Freeform 97" id="97" descr="/home/claude/work/icons/users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5" b="-5"/>
              </a:stretch>
            </a:blip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6701325" y="7006957"/>
            <a:ext cx="4655912" cy="155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177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Angelina — documentación/trazabilidad, web administrativa y dashboard; Paloma — app móvil. Backend, API y BD se dividen por módulos.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12034412" y="5956935"/>
            <a:ext cx="5279295" cy="3647219"/>
            <a:chOff x="0" y="0"/>
            <a:chExt cx="7029704" cy="485649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029704" cy="4856495"/>
            </a:xfrm>
            <a:custGeom>
              <a:avLst/>
              <a:gdLst/>
              <a:ahLst/>
              <a:cxnLst/>
              <a:rect r="r" b="b" t="t" l="l"/>
              <a:pathLst>
                <a:path h="4856495" w="7029704">
                  <a:moveTo>
                    <a:pt x="0" y="249708"/>
                  </a:moveTo>
                  <a:cubicBezTo>
                    <a:pt x="0" y="111852"/>
                    <a:pt x="74295" y="0"/>
                    <a:pt x="165862" y="0"/>
                  </a:cubicBezTo>
                  <a:lnTo>
                    <a:pt x="6863842" y="0"/>
                  </a:lnTo>
                  <a:cubicBezTo>
                    <a:pt x="6955410" y="0"/>
                    <a:pt x="7029704" y="111852"/>
                    <a:pt x="7029704" y="249708"/>
                  </a:cubicBezTo>
                  <a:lnTo>
                    <a:pt x="7029704" y="4606787"/>
                  </a:lnTo>
                  <a:cubicBezTo>
                    <a:pt x="7029704" y="4744643"/>
                    <a:pt x="6955410" y="4856495"/>
                    <a:pt x="6863842" y="4856495"/>
                  </a:cubicBezTo>
                  <a:lnTo>
                    <a:pt x="165862" y="4856495"/>
                  </a:lnTo>
                  <a:cubicBezTo>
                    <a:pt x="74295" y="4856495"/>
                    <a:pt x="0" y="4744643"/>
                    <a:pt x="0" y="4606787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336566" y="6259089"/>
            <a:ext cx="650851" cy="650851"/>
            <a:chOff x="0" y="0"/>
            <a:chExt cx="866648" cy="86664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2488253" y="6410776"/>
            <a:ext cx="347477" cy="347477"/>
            <a:chOff x="0" y="0"/>
            <a:chExt cx="462686" cy="462686"/>
          </a:xfrm>
        </p:grpSpPr>
        <p:sp>
          <p:nvSpPr>
            <p:cNvPr name="Freeform 104" id="104" descr="/home/claude/work/icons/handshake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5" b="-5"/>
              </a:stretch>
            </a:blip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12346103" y="7006957"/>
            <a:ext cx="4655912" cy="120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2277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Arquitectura, integración de componentes y pruebas integrales se realizan de forma colaborativa.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4869180" y="4669858"/>
            <a:ext cx="11117461" cy="28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u="sng">
                <a:solidFill>
                  <a:srgbClr val="1D4FA0"/>
                </a:solidFill>
                <a:latin typeface="Arimo"/>
                <a:ea typeface="Arimo"/>
                <a:cs typeface="Arimo"/>
                <a:sym typeface="Arimo"/>
                <a:hlinkClick r:id="rId11" tooltip="https://app.notion.com/p/3bf24d8feb44807c823af7b10a8199cc?v=3bf24d8feb44808da16a000cafd52d70&amp;source=copy_link"/>
              </a:rPr>
              <a:t>https://app.notion.com/p/3bf24d8feb44807c823af7b10a8199cc?v=3bf24d8feb44808da16a000cafd52d70&amp;source=copy_link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HERRAMIENTAS DE TRABAJO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Lenguajes, frameworks y plataformas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390775"/>
            <a:ext cx="5436870" cy="3516630"/>
            <a:chOff x="0" y="0"/>
            <a:chExt cx="7249160" cy="4688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49161" cy="4688840"/>
            </a:xfrm>
            <a:custGeom>
              <a:avLst/>
              <a:gdLst/>
              <a:ahLst/>
              <a:cxnLst/>
              <a:rect r="r" b="b" t="t" l="l"/>
              <a:pathLst>
                <a:path h="4688840" w="724916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7083679" y="0"/>
                  </a:lnTo>
                  <a:cubicBezTo>
                    <a:pt x="7175119" y="0"/>
                    <a:pt x="7249161" y="74041"/>
                    <a:pt x="7249161" y="165481"/>
                  </a:cubicBezTo>
                  <a:lnTo>
                    <a:pt x="7249161" y="4523359"/>
                  </a:lnTo>
                  <a:cubicBezTo>
                    <a:pt x="7249161" y="4614799"/>
                    <a:pt x="7175119" y="4688840"/>
                    <a:pt x="70836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74039" y="2719959"/>
            <a:ext cx="732282" cy="732282"/>
            <a:chOff x="0" y="0"/>
            <a:chExt cx="976376" cy="9763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44041" y="2889961"/>
            <a:ext cx="392278" cy="392278"/>
            <a:chOff x="0" y="0"/>
            <a:chExt cx="523037" cy="523037"/>
          </a:xfrm>
        </p:grpSpPr>
        <p:sp>
          <p:nvSpPr>
            <p:cNvPr name="Freeform 13" id="13" descr="/home/claude/work/icons/clipboard_white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" b="-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88820" y="2729484"/>
            <a:ext cx="3909060" cy="713232"/>
            <a:chOff x="0" y="0"/>
            <a:chExt cx="5212080" cy="9509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12080" cy="950976"/>
            </a:xfrm>
            <a:custGeom>
              <a:avLst/>
              <a:gdLst/>
              <a:ahLst/>
              <a:cxnLst/>
              <a:rect r="r" b="b" t="t" l="l"/>
              <a:pathLst>
                <a:path h="95097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93" r="0" b="-567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21208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Gestión &amp; Diseño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83564" y="3633597"/>
            <a:ext cx="4759452" cy="201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Notion (Kanban)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GitHub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91859" y="2390775"/>
            <a:ext cx="5436870" cy="3516630"/>
            <a:chOff x="0" y="0"/>
            <a:chExt cx="7249160" cy="4688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49161" cy="4688840"/>
            </a:xfrm>
            <a:custGeom>
              <a:avLst/>
              <a:gdLst/>
              <a:ahLst/>
              <a:cxnLst/>
              <a:rect r="r" b="b" t="t" l="l"/>
              <a:pathLst>
                <a:path h="4688840" w="724916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7083679" y="0"/>
                  </a:lnTo>
                  <a:cubicBezTo>
                    <a:pt x="7175119" y="0"/>
                    <a:pt x="7249161" y="74041"/>
                    <a:pt x="7249161" y="165481"/>
                  </a:cubicBezTo>
                  <a:lnTo>
                    <a:pt x="7249161" y="4523359"/>
                  </a:lnTo>
                  <a:cubicBezTo>
                    <a:pt x="7249161" y="4614799"/>
                    <a:pt x="7175119" y="4688840"/>
                    <a:pt x="70836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821043" y="2719959"/>
            <a:ext cx="732282" cy="732282"/>
            <a:chOff x="0" y="0"/>
            <a:chExt cx="976376" cy="9763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991045" y="2889961"/>
            <a:ext cx="392278" cy="392278"/>
            <a:chOff x="0" y="0"/>
            <a:chExt cx="523037" cy="523037"/>
          </a:xfrm>
        </p:grpSpPr>
        <p:sp>
          <p:nvSpPr>
            <p:cNvPr name="Freeform 23" id="23" descr="/home/claude/work/icons/server_white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9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735824" y="2729484"/>
            <a:ext cx="3909060" cy="713232"/>
            <a:chOff x="0" y="0"/>
            <a:chExt cx="5212080" cy="9509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2080" cy="950976"/>
            </a:xfrm>
            <a:custGeom>
              <a:avLst/>
              <a:gdLst/>
              <a:ahLst/>
              <a:cxnLst/>
              <a:rect r="r" b="b" t="t" l="l"/>
              <a:pathLst>
                <a:path h="95097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93" r="0" b="-5679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21208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&amp; API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830568" y="3633597"/>
            <a:ext cx="4759452" cy="201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C#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ASP.NET Core Web API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238863" y="2390775"/>
            <a:ext cx="5436870" cy="3516630"/>
            <a:chOff x="0" y="0"/>
            <a:chExt cx="7249160" cy="4688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49161" cy="4688840"/>
            </a:xfrm>
            <a:custGeom>
              <a:avLst/>
              <a:gdLst/>
              <a:ahLst/>
              <a:cxnLst/>
              <a:rect r="r" b="b" t="t" l="l"/>
              <a:pathLst>
                <a:path h="4688840" w="724916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7083679" y="0"/>
                  </a:lnTo>
                  <a:cubicBezTo>
                    <a:pt x="7175119" y="0"/>
                    <a:pt x="7249161" y="74041"/>
                    <a:pt x="7249161" y="165481"/>
                  </a:cubicBezTo>
                  <a:lnTo>
                    <a:pt x="7249161" y="4523359"/>
                  </a:lnTo>
                  <a:cubicBezTo>
                    <a:pt x="7249161" y="4614799"/>
                    <a:pt x="7175119" y="4688840"/>
                    <a:pt x="70836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568047" y="2719959"/>
            <a:ext cx="732282" cy="732282"/>
            <a:chOff x="0" y="0"/>
            <a:chExt cx="976376" cy="9763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738049" y="2889961"/>
            <a:ext cx="392278" cy="392278"/>
            <a:chOff x="0" y="0"/>
            <a:chExt cx="523037" cy="523037"/>
          </a:xfrm>
        </p:grpSpPr>
        <p:sp>
          <p:nvSpPr>
            <p:cNvPr name="Freeform 33" id="33" descr="/home/claude/work/icons/desktop_white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482828" y="2729484"/>
            <a:ext cx="3909060" cy="713232"/>
            <a:chOff x="0" y="0"/>
            <a:chExt cx="5212080" cy="9509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12080" cy="950976"/>
            </a:xfrm>
            <a:custGeom>
              <a:avLst/>
              <a:gdLst/>
              <a:ahLst/>
              <a:cxnLst/>
              <a:rect r="r" b="b" t="t" l="l"/>
              <a:pathLst>
                <a:path h="95097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93" r="0" b="-5679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21208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Web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577572" y="3633597"/>
            <a:ext cx="4759452" cy="201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Angular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TypeScript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HTML / CSS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44855" y="6217539"/>
            <a:ext cx="5436870" cy="3516630"/>
            <a:chOff x="0" y="0"/>
            <a:chExt cx="7249160" cy="4688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49161" cy="4688840"/>
            </a:xfrm>
            <a:custGeom>
              <a:avLst/>
              <a:gdLst/>
              <a:ahLst/>
              <a:cxnLst/>
              <a:rect r="r" b="b" t="t" l="l"/>
              <a:pathLst>
                <a:path h="4688840" w="724916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7083679" y="0"/>
                  </a:lnTo>
                  <a:cubicBezTo>
                    <a:pt x="7175119" y="0"/>
                    <a:pt x="7249161" y="74041"/>
                    <a:pt x="7249161" y="165481"/>
                  </a:cubicBezTo>
                  <a:lnTo>
                    <a:pt x="7249161" y="4523359"/>
                  </a:lnTo>
                  <a:cubicBezTo>
                    <a:pt x="7249161" y="4614799"/>
                    <a:pt x="7175119" y="4688840"/>
                    <a:pt x="70836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74039" y="6546723"/>
            <a:ext cx="732282" cy="732282"/>
            <a:chOff x="0" y="0"/>
            <a:chExt cx="976376" cy="9763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44041" y="6716725"/>
            <a:ext cx="392278" cy="392278"/>
            <a:chOff x="0" y="0"/>
            <a:chExt cx="523037" cy="523037"/>
          </a:xfrm>
        </p:grpSpPr>
        <p:sp>
          <p:nvSpPr>
            <p:cNvPr name="Freeform 43" id="43" descr="/home/claude/work/icons/mobile_white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988820" y="6556248"/>
            <a:ext cx="3909060" cy="713232"/>
            <a:chOff x="0" y="0"/>
            <a:chExt cx="5212080" cy="95097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212080" cy="950976"/>
            </a:xfrm>
            <a:custGeom>
              <a:avLst/>
              <a:gdLst/>
              <a:ahLst/>
              <a:cxnLst/>
              <a:rect r="r" b="b" t="t" l="l"/>
              <a:pathLst>
                <a:path h="95097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93" r="0" b="-5679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21208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Móvil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83564" y="7460361"/>
            <a:ext cx="4759452" cy="201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Ionic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Angular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Capacitor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Android Studio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491859" y="6217539"/>
            <a:ext cx="5436870" cy="3516630"/>
            <a:chOff x="0" y="0"/>
            <a:chExt cx="7249160" cy="4688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249161" cy="4688840"/>
            </a:xfrm>
            <a:custGeom>
              <a:avLst/>
              <a:gdLst/>
              <a:ahLst/>
              <a:cxnLst/>
              <a:rect r="r" b="b" t="t" l="l"/>
              <a:pathLst>
                <a:path h="4688840" w="724916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7083679" y="0"/>
                  </a:lnTo>
                  <a:cubicBezTo>
                    <a:pt x="7175119" y="0"/>
                    <a:pt x="7249161" y="74041"/>
                    <a:pt x="7249161" y="165481"/>
                  </a:cubicBezTo>
                  <a:lnTo>
                    <a:pt x="7249161" y="4523359"/>
                  </a:lnTo>
                  <a:cubicBezTo>
                    <a:pt x="7249161" y="4614799"/>
                    <a:pt x="7175119" y="4688840"/>
                    <a:pt x="70836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6821043" y="6546723"/>
            <a:ext cx="732282" cy="732282"/>
            <a:chOff x="0" y="0"/>
            <a:chExt cx="976376" cy="9763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6991045" y="6716725"/>
            <a:ext cx="392278" cy="392278"/>
            <a:chOff x="0" y="0"/>
            <a:chExt cx="523037" cy="523037"/>
          </a:xfrm>
        </p:grpSpPr>
        <p:sp>
          <p:nvSpPr>
            <p:cNvPr name="Freeform 53" id="53" descr="/home/claude/work/icons/database_white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735824" y="6556248"/>
            <a:ext cx="3909060" cy="713232"/>
            <a:chOff x="0" y="0"/>
            <a:chExt cx="5212080" cy="95097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212080" cy="950976"/>
            </a:xfrm>
            <a:custGeom>
              <a:avLst/>
              <a:gdLst/>
              <a:ahLst/>
              <a:cxnLst/>
              <a:rect r="r" b="b" t="t" l="l"/>
              <a:pathLst>
                <a:path h="95097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93" r="0" b="-5679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21208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Bases de Datos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6830568" y="7460361"/>
            <a:ext cx="4759452" cy="201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MySQL (relacional)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MongoDB (no relacional)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238863" y="6217539"/>
            <a:ext cx="5436870" cy="3516630"/>
            <a:chOff x="0" y="0"/>
            <a:chExt cx="7249160" cy="46888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249161" cy="4688840"/>
            </a:xfrm>
            <a:custGeom>
              <a:avLst/>
              <a:gdLst/>
              <a:ahLst/>
              <a:cxnLst/>
              <a:rect r="r" b="b" t="t" l="l"/>
              <a:pathLst>
                <a:path h="4688840" w="724916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7083679" y="0"/>
                  </a:lnTo>
                  <a:cubicBezTo>
                    <a:pt x="7175119" y="0"/>
                    <a:pt x="7249161" y="74041"/>
                    <a:pt x="7249161" y="165481"/>
                  </a:cubicBezTo>
                  <a:lnTo>
                    <a:pt x="7249161" y="4523359"/>
                  </a:lnTo>
                  <a:cubicBezTo>
                    <a:pt x="7249161" y="4614799"/>
                    <a:pt x="7175119" y="4688840"/>
                    <a:pt x="70836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568047" y="6546723"/>
            <a:ext cx="732282" cy="732282"/>
            <a:chOff x="0" y="0"/>
            <a:chExt cx="976376" cy="9763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738049" y="6716725"/>
            <a:ext cx="392278" cy="392278"/>
            <a:chOff x="0" y="0"/>
            <a:chExt cx="523037" cy="523037"/>
          </a:xfrm>
        </p:grpSpPr>
        <p:sp>
          <p:nvSpPr>
            <p:cNvPr name="Freeform 63" id="63" descr="/home/claude/work/icons/cogs_white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9" b="-9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482828" y="6556248"/>
            <a:ext cx="3909060" cy="713232"/>
            <a:chOff x="0" y="0"/>
            <a:chExt cx="5212080" cy="95097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12080" cy="950976"/>
            </a:xfrm>
            <a:custGeom>
              <a:avLst/>
              <a:gdLst/>
              <a:ahLst/>
              <a:cxnLst/>
              <a:rect r="r" b="b" t="t" l="l"/>
              <a:pathLst>
                <a:path h="95097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93" r="0" b="-5679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521208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Otros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2577572" y="7460361"/>
            <a:ext cx="4759452" cy="201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Librería QR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Generación de Excel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PLAN DE TRABAJO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Cronograma general (18 semanas)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54380" y="1865376"/>
            <a:ext cx="9586327" cy="7848327"/>
          </a:xfrm>
          <a:custGeom>
            <a:avLst/>
            <a:gdLst/>
            <a:ahLst/>
            <a:cxnLst/>
            <a:rect r="r" b="b" t="t" l="l"/>
            <a:pathLst>
              <a:path h="7848327" w="9586327">
                <a:moveTo>
                  <a:pt x="0" y="0"/>
                </a:moveTo>
                <a:lnTo>
                  <a:pt x="9586327" y="0"/>
                </a:lnTo>
                <a:lnTo>
                  <a:pt x="9586327" y="7848327"/>
                </a:lnTo>
                <a:lnTo>
                  <a:pt x="0" y="7848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PLAN DE TRABAJO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Cronograma general (18 semanas)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54380" y="2248210"/>
            <a:ext cx="17097781" cy="7010090"/>
          </a:xfrm>
          <a:custGeom>
            <a:avLst/>
            <a:gdLst/>
            <a:ahLst/>
            <a:cxnLst/>
            <a:rect r="r" b="b" t="t" l="l"/>
            <a:pathLst>
              <a:path h="7010090" w="17097781">
                <a:moveTo>
                  <a:pt x="0" y="0"/>
                </a:moveTo>
                <a:lnTo>
                  <a:pt x="17097781" y="0"/>
                </a:lnTo>
                <a:lnTo>
                  <a:pt x="17097781" y="7010090"/>
                </a:lnTo>
                <a:lnTo>
                  <a:pt x="0" y="7010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· EVIDENCIAS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Informe de avance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390775"/>
            <a:ext cx="7905750" cy="2967990"/>
            <a:chOff x="0" y="0"/>
            <a:chExt cx="10541000" cy="395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01471" y="2747391"/>
            <a:ext cx="787146" cy="787146"/>
            <a:chOff x="0" y="0"/>
            <a:chExt cx="1049528" cy="1049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3818" y="2929738"/>
            <a:ext cx="422453" cy="422453"/>
            <a:chOff x="0" y="0"/>
            <a:chExt cx="563270" cy="563270"/>
          </a:xfrm>
        </p:grpSpPr>
        <p:sp>
          <p:nvSpPr>
            <p:cNvPr name="Freeform 13" id="13" descr="/home/claude/work/icons/file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81163" y="2692527"/>
            <a:ext cx="567690" cy="567690"/>
            <a:chOff x="0" y="0"/>
            <a:chExt cx="756920" cy="756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790688" y="2702052"/>
            <a:ext cx="548640" cy="548640"/>
            <a:chOff x="0" y="0"/>
            <a:chExt cx="7315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0996" y="3744468"/>
            <a:ext cx="7200900" cy="617220"/>
            <a:chOff x="0" y="0"/>
            <a:chExt cx="9601200" cy="822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Documento de requerimientos del sistema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10996" y="427291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Evidencia el análisis y levantamiento de requerimientos, base para el diseño y desarrollo.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17355" y="2390775"/>
            <a:ext cx="7905750" cy="2967990"/>
            <a:chOff x="0" y="0"/>
            <a:chExt cx="10541000" cy="3957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73971" y="2747391"/>
            <a:ext cx="787146" cy="787146"/>
            <a:chOff x="0" y="0"/>
            <a:chExt cx="1049528" cy="10495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856318" y="2929738"/>
            <a:ext cx="422453" cy="422453"/>
            <a:chOff x="0" y="0"/>
            <a:chExt cx="563270" cy="563270"/>
          </a:xfrm>
        </p:grpSpPr>
        <p:sp>
          <p:nvSpPr>
            <p:cNvPr name="Freeform 28" id="28" descr="/home/claude/work/icons/database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6353663" y="2692527"/>
            <a:ext cx="567690" cy="567690"/>
            <a:chOff x="0" y="0"/>
            <a:chExt cx="756920" cy="756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6363188" y="2702052"/>
            <a:ext cx="548640" cy="548640"/>
            <a:chOff x="0" y="0"/>
            <a:chExt cx="7315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83496" y="3744468"/>
            <a:ext cx="7200900" cy="617220"/>
            <a:chOff x="0" y="0"/>
            <a:chExt cx="9601200" cy="822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Diseño preliminar de base de datos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683496" y="427291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Demuestra la aplicación de diseño y gestión de datos, justificando la arquitectura elegida.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44855" y="5751195"/>
            <a:ext cx="7905750" cy="2967990"/>
            <a:chOff x="0" y="0"/>
            <a:chExt cx="10541000" cy="3957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01471" y="6107811"/>
            <a:ext cx="787146" cy="787146"/>
            <a:chOff x="0" y="0"/>
            <a:chExt cx="1049528" cy="10495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83818" y="6290158"/>
            <a:ext cx="422453" cy="422453"/>
            <a:chOff x="0" y="0"/>
            <a:chExt cx="563270" cy="563270"/>
          </a:xfrm>
        </p:grpSpPr>
        <p:sp>
          <p:nvSpPr>
            <p:cNvPr name="Freeform 43" id="43" descr="/home/claude/work/icons/desktop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781163" y="6052947"/>
            <a:ext cx="567690" cy="567690"/>
            <a:chOff x="0" y="0"/>
            <a:chExt cx="756920" cy="756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7790688" y="6062472"/>
            <a:ext cx="548640" cy="548640"/>
            <a:chOff x="0" y="0"/>
            <a:chExt cx="73152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10996" y="7104888"/>
            <a:ext cx="7200900" cy="617220"/>
            <a:chOff x="0" y="0"/>
            <a:chExt cx="9601200" cy="822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Mockups de app web y móvil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110996" y="763333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Permite validar la distribución de funcionalidades y orientar el desarrollo de interfaces.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317355" y="5751195"/>
            <a:ext cx="7905750" cy="2967990"/>
            <a:chOff x="0" y="0"/>
            <a:chExt cx="10541000" cy="39573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673971" y="6107811"/>
            <a:ext cx="787146" cy="787146"/>
            <a:chOff x="0" y="0"/>
            <a:chExt cx="1049528" cy="104952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856318" y="6290158"/>
            <a:ext cx="422453" cy="422453"/>
            <a:chOff x="0" y="0"/>
            <a:chExt cx="563270" cy="563270"/>
          </a:xfrm>
        </p:grpSpPr>
        <p:sp>
          <p:nvSpPr>
            <p:cNvPr name="Freeform 58" id="58" descr="/home/claude/work/icons/tasks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353663" y="6052947"/>
            <a:ext cx="567690" cy="567690"/>
            <a:chOff x="0" y="0"/>
            <a:chExt cx="756920" cy="756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6363188" y="6062472"/>
            <a:ext cx="548640" cy="548640"/>
            <a:chOff x="0" y="0"/>
            <a:chExt cx="73152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83496" y="7104888"/>
            <a:ext cx="7200900" cy="617220"/>
            <a:chOff x="0" y="0"/>
            <a:chExt cx="9601200" cy="822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Planificación y gestión en Kanban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683496" y="763333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Demuestra la aplicación de una metodología para planificar y hacer seguimiento del proyecto.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· EVIDENCIAS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Informe final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390775"/>
            <a:ext cx="7905750" cy="2967990"/>
            <a:chOff x="0" y="0"/>
            <a:chExt cx="10541000" cy="395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01471" y="2747391"/>
            <a:ext cx="787146" cy="787146"/>
            <a:chOff x="0" y="0"/>
            <a:chExt cx="1049528" cy="1049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3818" y="2929738"/>
            <a:ext cx="422453" cy="422453"/>
            <a:chOff x="0" y="0"/>
            <a:chExt cx="563270" cy="563270"/>
          </a:xfrm>
        </p:grpSpPr>
        <p:sp>
          <p:nvSpPr>
            <p:cNvPr name="Freeform 13" id="13" descr="/home/claude/work/icons/desktop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81163" y="2692527"/>
            <a:ext cx="567690" cy="567690"/>
            <a:chOff x="0" y="0"/>
            <a:chExt cx="756920" cy="756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790688" y="2702052"/>
            <a:ext cx="548640" cy="548640"/>
            <a:chOff x="0" y="0"/>
            <a:chExt cx="7315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0996" y="3744468"/>
            <a:ext cx="7200900" cy="617220"/>
            <a:chOff x="0" y="0"/>
            <a:chExt cx="9601200" cy="822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Sistema web administrativo funcional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10996" y="427291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Implementación de la gestión de empresas, pasajeros, conductores, vehículos, rutas y servicios.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17355" y="2390775"/>
            <a:ext cx="7905750" cy="2967990"/>
            <a:chOff x="0" y="0"/>
            <a:chExt cx="10541000" cy="3957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73971" y="2747391"/>
            <a:ext cx="787146" cy="787146"/>
            <a:chOff x="0" y="0"/>
            <a:chExt cx="1049528" cy="10495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856318" y="2929738"/>
            <a:ext cx="422453" cy="422453"/>
            <a:chOff x="0" y="0"/>
            <a:chExt cx="563270" cy="563270"/>
          </a:xfrm>
        </p:grpSpPr>
        <p:sp>
          <p:nvSpPr>
            <p:cNvPr name="Freeform 28" id="28" descr="/home/claude/work/icons/mobile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6353663" y="2692527"/>
            <a:ext cx="567690" cy="567690"/>
            <a:chOff x="0" y="0"/>
            <a:chExt cx="756920" cy="756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6363188" y="2702052"/>
            <a:ext cx="548640" cy="548640"/>
            <a:chOff x="0" y="0"/>
            <a:chExt cx="7315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83496" y="3744468"/>
            <a:ext cx="7200900" cy="617220"/>
            <a:chOff x="0" y="0"/>
            <a:chExt cx="9601200" cy="822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móvil funcional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683496" y="427291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del servicio, confirmación y control de asistencia mediante QR para el MVP.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44855" y="5751195"/>
            <a:ext cx="7905750" cy="2967990"/>
            <a:chOff x="0" y="0"/>
            <a:chExt cx="10541000" cy="3957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01471" y="6107811"/>
            <a:ext cx="787146" cy="787146"/>
            <a:chOff x="0" y="0"/>
            <a:chExt cx="1049528" cy="10495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83818" y="6290158"/>
            <a:ext cx="422453" cy="422453"/>
            <a:chOff x="0" y="0"/>
            <a:chExt cx="563270" cy="563270"/>
          </a:xfrm>
        </p:grpSpPr>
        <p:sp>
          <p:nvSpPr>
            <p:cNvPr name="Freeform 43" id="43" descr="/home/claude/work/icons/chartline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781163" y="6052947"/>
            <a:ext cx="567690" cy="567690"/>
            <a:chOff x="0" y="0"/>
            <a:chExt cx="756920" cy="756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7790688" y="6062472"/>
            <a:ext cx="548640" cy="548640"/>
            <a:chOff x="0" y="0"/>
            <a:chExt cx="73152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10996" y="7104888"/>
            <a:ext cx="7200900" cy="617220"/>
            <a:chOff x="0" y="0"/>
            <a:chExt cx="9601200" cy="822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Dashboard, reportes y planilla mensual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110996" y="763333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Indicadores operacionales y planilla mensual para control y proceso de cobro.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317355" y="5751195"/>
            <a:ext cx="7905750" cy="2967990"/>
            <a:chOff x="0" y="0"/>
            <a:chExt cx="10541000" cy="39573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673971" y="6107811"/>
            <a:ext cx="787146" cy="787146"/>
            <a:chOff x="0" y="0"/>
            <a:chExt cx="1049528" cy="104952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856318" y="6290158"/>
            <a:ext cx="422453" cy="422453"/>
            <a:chOff x="0" y="0"/>
            <a:chExt cx="563270" cy="563270"/>
          </a:xfrm>
        </p:grpSpPr>
        <p:sp>
          <p:nvSpPr>
            <p:cNvPr name="Freeform 58" id="58" descr="/home/claude/work/icons/clipcheck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353663" y="6052947"/>
            <a:ext cx="567690" cy="567690"/>
            <a:chOff x="0" y="0"/>
            <a:chExt cx="756920" cy="756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6363188" y="6062472"/>
            <a:ext cx="548640" cy="548640"/>
            <a:chOff x="0" y="0"/>
            <a:chExt cx="73152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83496" y="7104888"/>
            <a:ext cx="7200900" cy="617220"/>
            <a:chOff x="0" y="0"/>
            <a:chExt cx="9601200" cy="822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Informe de pruebas y validación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683496" y="763333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Resultados de pruebas, incidencias detectadas y correcciones aplicadas al sistema.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· MATRIZ RACI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Roles y responsabilidades por actividad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54380" y="1957256"/>
            <a:ext cx="14336984" cy="7808536"/>
          </a:xfrm>
          <a:custGeom>
            <a:avLst/>
            <a:gdLst/>
            <a:ahLst/>
            <a:cxnLst/>
            <a:rect r="r" b="b" t="t" l="l"/>
            <a:pathLst>
              <a:path h="7808536" w="14336984">
                <a:moveTo>
                  <a:pt x="0" y="0"/>
                </a:moveTo>
                <a:lnTo>
                  <a:pt x="14336984" y="0"/>
                </a:lnTo>
                <a:lnTo>
                  <a:pt x="14336984" y="7808536"/>
                </a:lnTo>
                <a:lnTo>
                  <a:pt x="0" y="7808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· MODELO DE DATOS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Esquema preliminar de bases de datos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322195"/>
            <a:ext cx="8042910" cy="704850"/>
            <a:chOff x="0" y="0"/>
            <a:chExt cx="10723880" cy="93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23880" cy="939800"/>
            </a:xfrm>
            <a:custGeom>
              <a:avLst/>
              <a:gdLst/>
              <a:ahLst/>
              <a:cxnLst/>
              <a:rect r="r" b="b" t="t" l="l"/>
              <a:pathLst>
                <a:path h="939800" w="10723880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10554716" y="0"/>
                  </a:lnTo>
                  <a:cubicBezTo>
                    <a:pt x="10648188" y="0"/>
                    <a:pt x="10723880" y="75692"/>
                    <a:pt x="10723880" y="169164"/>
                  </a:cubicBezTo>
                  <a:lnTo>
                    <a:pt x="10723880" y="770636"/>
                  </a:lnTo>
                  <a:cubicBezTo>
                    <a:pt x="10723880" y="864108"/>
                    <a:pt x="10648188" y="939800"/>
                    <a:pt x="10554716" y="939800"/>
                  </a:cubicBezTo>
                  <a:lnTo>
                    <a:pt x="169164" y="939800"/>
                  </a:lnTo>
                  <a:cubicBezTo>
                    <a:pt x="75692" y="939800"/>
                    <a:pt x="0" y="864108"/>
                    <a:pt x="0" y="770636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12214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82015" y="2404491"/>
            <a:ext cx="540258" cy="540258"/>
            <a:chOff x="0" y="0"/>
            <a:chExt cx="720344" cy="7203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08812" y="2531288"/>
            <a:ext cx="286664" cy="286664"/>
            <a:chOff x="0" y="0"/>
            <a:chExt cx="382219" cy="382219"/>
          </a:xfrm>
        </p:grpSpPr>
        <p:sp>
          <p:nvSpPr>
            <p:cNvPr name="Freeform 13" id="13" descr="/home/claude/work/icons/database_white.png"/>
            <p:cNvSpPr/>
            <p:nvPr/>
          </p:nvSpPr>
          <p:spPr>
            <a:xfrm flipH="false" flipV="false" rot="0">
              <a:off x="0" y="0"/>
              <a:ext cx="382270" cy="382270"/>
            </a:xfrm>
            <a:custGeom>
              <a:avLst/>
              <a:gdLst/>
              <a:ahLst/>
              <a:cxnLst/>
              <a:rect r="r" b="b" t="t" l="l"/>
              <a:pathLst>
                <a:path h="382270" w="382270">
                  <a:moveTo>
                    <a:pt x="0" y="0"/>
                  </a:moveTo>
                  <a:lnTo>
                    <a:pt x="382270" y="0"/>
                  </a:lnTo>
                  <a:lnTo>
                    <a:pt x="382270" y="382270"/>
                  </a:lnTo>
                  <a:lnTo>
                    <a:pt x="0" y="382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3" b="1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49908" y="2331720"/>
            <a:ext cx="7063740" cy="685800"/>
            <a:chOff x="0" y="0"/>
            <a:chExt cx="941832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18320" cy="914400"/>
            </a:xfrm>
            <a:custGeom>
              <a:avLst/>
              <a:gdLst/>
              <a:ahLst/>
              <a:cxnLst/>
              <a:rect r="r" b="b" t="t" l="l"/>
              <a:pathLst>
                <a:path h="9144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695" r="0" b="-1506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4183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— Datos estructurados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4855" y="3254883"/>
            <a:ext cx="2570226" cy="1527810"/>
            <a:chOff x="0" y="0"/>
            <a:chExt cx="3426968" cy="2037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26968" cy="2037080"/>
            </a:xfrm>
            <a:custGeom>
              <a:avLst/>
              <a:gdLst/>
              <a:ahLst/>
              <a:cxnLst/>
              <a:rect r="r" b="b" t="t" l="l"/>
              <a:pathLst>
                <a:path h="2037080" w="3426968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315843" y="0"/>
                  </a:lnTo>
                  <a:cubicBezTo>
                    <a:pt x="3377184" y="0"/>
                    <a:pt x="3426968" y="49784"/>
                    <a:pt x="3426968" y="111125"/>
                  </a:cubicBezTo>
                  <a:lnTo>
                    <a:pt x="3426968" y="1925955"/>
                  </a:lnTo>
                  <a:cubicBezTo>
                    <a:pt x="3426968" y="1987296"/>
                    <a:pt x="3377184" y="2037080"/>
                    <a:pt x="3315843" y="2037080"/>
                  </a:cubicBezTo>
                  <a:lnTo>
                    <a:pt x="111125" y="2037080"/>
                  </a:lnTo>
                  <a:cubicBezTo>
                    <a:pt x="49784" y="2037080"/>
                    <a:pt x="0" y="1987296"/>
                    <a:pt x="0" y="19259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44855" y="3254883"/>
            <a:ext cx="2570226" cy="457962"/>
            <a:chOff x="0" y="0"/>
            <a:chExt cx="3426968" cy="6106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26841" cy="610616"/>
            </a:xfrm>
            <a:custGeom>
              <a:avLst/>
              <a:gdLst/>
              <a:ahLst/>
              <a:cxnLst/>
              <a:rect r="r" b="b" t="t" l="l"/>
              <a:pathLst>
                <a:path h="610616" w="3426841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312414" y="0"/>
                  </a:lnTo>
                  <a:cubicBezTo>
                    <a:pt x="3375660" y="0"/>
                    <a:pt x="3426841" y="51308"/>
                    <a:pt x="3426841" y="114427"/>
                  </a:cubicBezTo>
                  <a:lnTo>
                    <a:pt x="3426841" y="496062"/>
                  </a:lnTo>
                  <a:cubicBezTo>
                    <a:pt x="3426841" y="559308"/>
                    <a:pt x="3375533" y="610616"/>
                    <a:pt x="3312414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44855" y="3474339"/>
            <a:ext cx="2570226" cy="238506"/>
            <a:chOff x="0" y="0"/>
            <a:chExt cx="3426968" cy="3180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26968" cy="318008"/>
            </a:xfrm>
            <a:custGeom>
              <a:avLst/>
              <a:gdLst/>
              <a:ahLst/>
              <a:cxnLst/>
              <a:rect r="r" b="b" t="t" l="l"/>
              <a:pathLst>
                <a:path h="318008" w="3426968">
                  <a:moveTo>
                    <a:pt x="0" y="0"/>
                  </a:moveTo>
                  <a:lnTo>
                    <a:pt x="3426968" y="0"/>
                  </a:lnTo>
                  <a:lnTo>
                    <a:pt x="3426968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91540" y="3264408"/>
            <a:ext cx="2276856" cy="438912"/>
            <a:chOff x="0" y="0"/>
            <a:chExt cx="3035808" cy="585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35808" cy="585216"/>
            </a:xfrm>
            <a:custGeom>
              <a:avLst/>
              <a:gdLst/>
              <a:ahLst/>
              <a:cxnLst/>
              <a:rect r="r" b="b" t="t" l="l"/>
              <a:pathLst>
                <a:path h="585216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78" r="0" b="-5107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03580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91540" y="3691509"/>
            <a:ext cx="2276856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rol: admin / conductor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  / pasajero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481197" y="3254883"/>
            <a:ext cx="2570226" cy="1527810"/>
            <a:chOff x="0" y="0"/>
            <a:chExt cx="3426968" cy="2037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26968" cy="2037080"/>
            </a:xfrm>
            <a:custGeom>
              <a:avLst/>
              <a:gdLst/>
              <a:ahLst/>
              <a:cxnLst/>
              <a:rect r="r" b="b" t="t" l="l"/>
              <a:pathLst>
                <a:path h="2037080" w="3426968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315843" y="0"/>
                  </a:lnTo>
                  <a:cubicBezTo>
                    <a:pt x="3377184" y="0"/>
                    <a:pt x="3426968" y="49784"/>
                    <a:pt x="3426968" y="111125"/>
                  </a:cubicBezTo>
                  <a:lnTo>
                    <a:pt x="3426968" y="1925955"/>
                  </a:lnTo>
                  <a:cubicBezTo>
                    <a:pt x="3426968" y="1987296"/>
                    <a:pt x="3377184" y="2037080"/>
                    <a:pt x="3315843" y="2037080"/>
                  </a:cubicBezTo>
                  <a:lnTo>
                    <a:pt x="111125" y="2037080"/>
                  </a:lnTo>
                  <a:cubicBezTo>
                    <a:pt x="49784" y="2037080"/>
                    <a:pt x="0" y="1987296"/>
                    <a:pt x="0" y="19259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3481197" y="3254883"/>
            <a:ext cx="2570226" cy="457962"/>
            <a:chOff x="0" y="0"/>
            <a:chExt cx="3426968" cy="6106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26841" cy="610616"/>
            </a:xfrm>
            <a:custGeom>
              <a:avLst/>
              <a:gdLst/>
              <a:ahLst/>
              <a:cxnLst/>
              <a:rect r="r" b="b" t="t" l="l"/>
              <a:pathLst>
                <a:path h="610616" w="3426841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312414" y="0"/>
                  </a:lnTo>
                  <a:cubicBezTo>
                    <a:pt x="3375660" y="0"/>
                    <a:pt x="3426841" y="51308"/>
                    <a:pt x="3426841" y="114427"/>
                  </a:cubicBezTo>
                  <a:lnTo>
                    <a:pt x="3426841" y="496062"/>
                  </a:lnTo>
                  <a:cubicBezTo>
                    <a:pt x="3426841" y="559308"/>
                    <a:pt x="3375533" y="610616"/>
                    <a:pt x="3312414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3481197" y="3474339"/>
            <a:ext cx="2570226" cy="238506"/>
            <a:chOff x="0" y="0"/>
            <a:chExt cx="3426968" cy="3180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26968" cy="318008"/>
            </a:xfrm>
            <a:custGeom>
              <a:avLst/>
              <a:gdLst/>
              <a:ahLst/>
              <a:cxnLst/>
              <a:rect r="r" b="b" t="t" l="l"/>
              <a:pathLst>
                <a:path h="318008" w="3426968">
                  <a:moveTo>
                    <a:pt x="0" y="0"/>
                  </a:moveTo>
                  <a:lnTo>
                    <a:pt x="3426968" y="0"/>
                  </a:lnTo>
                  <a:lnTo>
                    <a:pt x="3426968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3627882" y="3264408"/>
            <a:ext cx="2276856" cy="438912"/>
            <a:chOff x="0" y="0"/>
            <a:chExt cx="3035808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35808" cy="585216"/>
            </a:xfrm>
            <a:custGeom>
              <a:avLst/>
              <a:gdLst/>
              <a:ahLst/>
              <a:cxnLst/>
              <a:rect r="r" b="b" t="t" l="l"/>
              <a:pathLst>
                <a:path h="585216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78" r="0" b="-5107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03580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EMPRESA CLIENTE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3627882" y="3691509"/>
            <a:ext cx="2276856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razón social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contacto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217539" y="3254883"/>
            <a:ext cx="2570226" cy="1527810"/>
            <a:chOff x="0" y="0"/>
            <a:chExt cx="3426968" cy="2037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26968" cy="2037080"/>
            </a:xfrm>
            <a:custGeom>
              <a:avLst/>
              <a:gdLst/>
              <a:ahLst/>
              <a:cxnLst/>
              <a:rect r="r" b="b" t="t" l="l"/>
              <a:pathLst>
                <a:path h="2037080" w="3426968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315843" y="0"/>
                  </a:lnTo>
                  <a:cubicBezTo>
                    <a:pt x="3377184" y="0"/>
                    <a:pt x="3426968" y="49784"/>
                    <a:pt x="3426968" y="111125"/>
                  </a:cubicBezTo>
                  <a:lnTo>
                    <a:pt x="3426968" y="1925955"/>
                  </a:lnTo>
                  <a:cubicBezTo>
                    <a:pt x="3426968" y="1987296"/>
                    <a:pt x="3377184" y="2037080"/>
                    <a:pt x="3315843" y="2037080"/>
                  </a:cubicBezTo>
                  <a:lnTo>
                    <a:pt x="111125" y="2037080"/>
                  </a:lnTo>
                  <a:cubicBezTo>
                    <a:pt x="49784" y="2037080"/>
                    <a:pt x="0" y="1987296"/>
                    <a:pt x="0" y="19259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217539" y="3254883"/>
            <a:ext cx="2570226" cy="457962"/>
            <a:chOff x="0" y="0"/>
            <a:chExt cx="3426968" cy="6106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26841" cy="610616"/>
            </a:xfrm>
            <a:custGeom>
              <a:avLst/>
              <a:gdLst/>
              <a:ahLst/>
              <a:cxnLst/>
              <a:rect r="r" b="b" t="t" l="l"/>
              <a:pathLst>
                <a:path h="610616" w="3426841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312414" y="0"/>
                  </a:lnTo>
                  <a:cubicBezTo>
                    <a:pt x="3375660" y="0"/>
                    <a:pt x="3426841" y="51308"/>
                    <a:pt x="3426841" y="114427"/>
                  </a:cubicBezTo>
                  <a:lnTo>
                    <a:pt x="3426841" y="496062"/>
                  </a:lnTo>
                  <a:cubicBezTo>
                    <a:pt x="3426841" y="559308"/>
                    <a:pt x="3375533" y="610616"/>
                    <a:pt x="3312414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217539" y="3474339"/>
            <a:ext cx="2570226" cy="238506"/>
            <a:chOff x="0" y="0"/>
            <a:chExt cx="3426968" cy="3180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26968" cy="318008"/>
            </a:xfrm>
            <a:custGeom>
              <a:avLst/>
              <a:gdLst/>
              <a:ahLst/>
              <a:cxnLst/>
              <a:rect r="r" b="b" t="t" l="l"/>
              <a:pathLst>
                <a:path h="318008" w="3426968">
                  <a:moveTo>
                    <a:pt x="0" y="0"/>
                  </a:moveTo>
                  <a:lnTo>
                    <a:pt x="3426968" y="0"/>
                  </a:lnTo>
                  <a:lnTo>
                    <a:pt x="3426968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6364224" y="3264408"/>
            <a:ext cx="2276856" cy="438912"/>
            <a:chOff x="0" y="0"/>
            <a:chExt cx="3035808" cy="5852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35808" cy="585216"/>
            </a:xfrm>
            <a:custGeom>
              <a:avLst/>
              <a:gdLst/>
              <a:ahLst/>
              <a:cxnLst/>
              <a:rect r="r" b="b" t="t" l="l"/>
              <a:pathLst>
                <a:path h="585216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78" r="0" b="-5107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03580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CONDUCTOR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364224" y="3691509"/>
            <a:ext cx="2276856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licencia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vehículo asignado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44855" y="4955667"/>
            <a:ext cx="2570226" cy="1527810"/>
            <a:chOff x="0" y="0"/>
            <a:chExt cx="3426968" cy="2037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26968" cy="2037080"/>
            </a:xfrm>
            <a:custGeom>
              <a:avLst/>
              <a:gdLst/>
              <a:ahLst/>
              <a:cxnLst/>
              <a:rect r="r" b="b" t="t" l="l"/>
              <a:pathLst>
                <a:path h="2037080" w="3426968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315843" y="0"/>
                  </a:lnTo>
                  <a:cubicBezTo>
                    <a:pt x="3377184" y="0"/>
                    <a:pt x="3426968" y="49784"/>
                    <a:pt x="3426968" y="111125"/>
                  </a:cubicBezTo>
                  <a:lnTo>
                    <a:pt x="3426968" y="1925955"/>
                  </a:lnTo>
                  <a:cubicBezTo>
                    <a:pt x="3426968" y="1987296"/>
                    <a:pt x="3377184" y="2037080"/>
                    <a:pt x="3315843" y="2037080"/>
                  </a:cubicBezTo>
                  <a:lnTo>
                    <a:pt x="111125" y="2037080"/>
                  </a:lnTo>
                  <a:cubicBezTo>
                    <a:pt x="49784" y="2037080"/>
                    <a:pt x="0" y="1987296"/>
                    <a:pt x="0" y="19259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44855" y="4955667"/>
            <a:ext cx="2570226" cy="457962"/>
            <a:chOff x="0" y="0"/>
            <a:chExt cx="3426968" cy="6106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426841" cy="610616"/>
            </a:xfrm>
            <a:custGeom>
              <a:avLst/>
              <a:gdLst/>
              <a:ahLst/>
              <a:cxnLst/>
              <a:rect r="r" b="b" t="t" l="l"/>
              <a:pathLst>
                <a:path h="610616" w="3426841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312414" y="0"/>
                  </a:lnTo>
                  <a:cubicBezTo>
                    <a:pt x="3375660" y="0"/>
                    <a:pt x="3426841" y="51308"/>
                    <a:pt x="3426841" y="114427"/>
                  </a:cubicBezTo>
                  <a:lnTo>
                    <a:pt x="3426841" y="496062"/>
                  </a:lnTo>
                  <a:cubicBezTo>
                    <a:pt x="3426841" y="559308"/>
                    <a:pt x="3375533" y="610616"/>
                    <a:pt x="3312414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44855" y="5175123"/>
            <a:ext cx="2570226" cy="238506"/>
            <a:chOff x="0" y="0"/>
            <a:chExt cx="3426968" cy="3180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26968" cy="318008"/>
            </a:xfrm>
            <a:custGeom>
              <a:avLst/>
              <a:gdLst/>
              <a:ahLst/>
              <a:cxnLst/>
              <a:rect r="r" b="b" t="t" l="l"/>
              <a:pathLst>
                <a:path h="318008" w="3426968">
                  <a:moveTo>
                    <a:pt x="0" y="0"/>
                  </a:moveTo>
                  <a:lnTo>
                    <a:pt x="3426968" y="0"/>
                  </a:lnTo>
                  <a:lnTo>
                    <a:pt x="3426968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891540" y="4965192"/>
            <a:ext cx="2276856" cy="438912"/>
            <a:chOff x="0" y="0"/>
            <a:chExt cx="3035808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035808" cy="585216"/>
            </a:xfrm>
            <a:custGeom>
              <a:avLst/>
              <a:gdLst/>
              <a:ahLst/>
              <a:cxnLst/>
              <a:rect r="r" b="b" t="t" l="l"/>
              <a:pathLst>
                <a:path h="585216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78" r="0" b="-5107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03580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PASAJERO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891540" y="5392293"/>
            <a:ext cx="2276856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empresa asociada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3481197" y="4955667"/>
            <a:ext cx="2570226" cy="1527810"/>
            <a:chOff x="0" y="0"/>
            <a:chExt cx="3426968" cy="2037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26968" cy="2037080"/>
            </a:xfrm>
            <a:custGeom>
              <a:avLst/>
              <a:gdLst/>
              <a:ahLst/>
              <a:cxnLst/>
              <a:rect r="r" b="b" t="t" l="l"/>
              <a:pathLst>
                <a:path h="2037080" w="3426968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315843" y="0"/>
                  </a:lnTo>
                  <a:cubicBezTo>
                    <a:pt x="3377184" y="0"/>
                    <a:pt x="3426968" y="49784"/>
                    <a:pt x="3426968" y="111125"/>
                  </a:cubicBezTo>
                  <a:lnTo>
                    <a:pt x="3426968" y="1925955"/>
                  </a:lnTo>
                  <a:cubicBezTo>
                    <a:pt x="3426968" y="1987296"/>
                    <a:pt x="3377184" y="2037080"/>
                    <a:pt x="3315843" y="2037080"/>
                  </a:cubicBezTo>
                  <a:lnTo>
                    <a:pt x="111125" y="2037080"/>
                  </a:lnTo>
                  <a:cubicBezTo>
                    <a:pt x="49784" y="2037080"/>
                    <a:pt x="0" y="1987296"/>
                    <a:pt x="0" y="19259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3481197" y="4955667"/>
            <a:ext cx="2570226" cy="457962"/>
            <a:chOff x="0" y="0"/>
            <a:chExt cx="3426968" cy="6106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26841" cy="610616"/>
            </a:xfrm>
            <a:custGeom>
              <a:avLst/>
              <a:gdLst/>
              <a:ahLst/>
              <a:cxnLst/>
              <a:rect r="r" b="b" t="t" l="l"/>
              <a:pathLst>
                <a:path h="610616" w="3426841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312414" y="0"/>
                  </a:lnTo>
                  <a:cubicBezTo>
                    <a:pt x="3375660" y="0"/>
                    <a:pt x="3426841" y="51308"/>
                    <a:pt x="3426841" y="114427"/>
                  </a:cubicBezTo>
                  <a:lnTo>
                    <a:pt x="3426841" y="496062"/>
                  </a:lnTo>
                  <a:cubicBezTo>
                    <a:pt x="3426841" y="559308"/>
                    <a:pt x="3375533" y="610616"/>
                    <a:pt x="3312414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3481197" y="5175123"/>
            <a:ext cx="2570226" cy="238506"/>
            <a:chOff x="0" y="0"/>
            <a:chExt cx="3426968" cy="31800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426968" cy="318008"/>
            </a:xfrm>
            <a:custGeom>
              <a:avLst/>
              <a:gdLst/>
              <a:ahLst/>
              <a:cxnLst/>
              <a:rect r="r" b="b" t="t" l="l"/>
              <a:pathLst>
                <a:path h="318008" w="3426968">
                  <a:moveTo>
                    <a:pt x="0" y="0"/>
                  </a:moveTo>
                  <a:lnTo>
                    <a:pt x="3426968" y="0"/>
                  </a:lnTo>
                  <a:lnTo>
                    <a:pt x="3426968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3627882" y="4965192"/>
            <a:ext cx="2276856" cy="438912"/>
            <a:chOff x="0" y="0"/>
            <a:chExt cx="3035808" cy="5852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035808" cy="585216"/>
            </a:xfrm>
            <a:custGeom>
              <a:avLst/>
              <a:gdLst/>
              <a:ahLst/>
              <a:cxnLst/>
              <a:rect r="r" b="b" t="t" l="l"/>
              <a:pathLst>
                <a:path h="585216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78" r="0" b="-5107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03580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VEHÍCULO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3627882" y="5392293"/>
            <a:ext cx="2276856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patente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capacidad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6217539" y="4955667"/>
            <a:ext cx="2570226" cy="1527810"/>
            <a:chOff x="0" y="0"/>
            <a:chExt cx="3426968" cy="2037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426968" cy="2037080"/>
            </a:xfrm>
            <a:custGeom>
              <a:avLst/>
              <a:gdLst/>
              <a:ahLst/>
              <a:cxnLst/>
              <a:rect r="r" b="b" t="t" l="l"/>
              <a:pathLst>
                <a:path h="2037080" w="3426968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315843" y="0"/>
                  </a:lnTo>
                  <a:cubicBezTo>
                    <a:pt x="3377184" y="0"/>
                    <a:pt x="3426968" y="49784"/>
                    <a:pt x="3426968" y="111125"/>
                  </a:cubicBezTo>
                  <a:lnTo>
                    <a:pt x="3426968" y="1925955"/>
                  </a:lnTo>
                  <a:cubicBezTo>
                    <a:pt x="3426968" y="1987296"/>
                    <a:pt x="3377184" y="2037080"/>
                    <a:pt x="3315843" y="2037080"/>
                  </a:cubicBezTo>
                  <a:lnTo>
                    <a:pt x="111125" y="2037080"/>
                  </a:lnTo>
                  <a:cubicBezTo>
                    <a:pt x="49784" y="2037080"/>
                    <a:pt x="0" y="1987296"/>
                    <a:pt x="0" y="19259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6217539" y="4955667"/>
            <a:ext cx="2570226" cy="457962"/>
            <a:chOff x="0" y="0"/>
            <a:chExt cx="3426968" cy="6106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426841" cy="610616"/>
            </a:xfrm>
            <a:custGeom>
              <a:avLst/>
              <a:gdLst/>
              <a:ahLst/>
              <a:cxnLst/>
              <a:rect r="r" b="b" t="t" l="l"/>
              <a:pathLst>
                <a:path h="610616" w="3426841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312414" y="0"/>
                  </a:lnTo>
                  <a:cubicBezTo>
                    <a:pt x="3375660" y="0"/>
                    <a:pt x="3426841" y="51308"/>
                    <a:pt x="3426841" y="114427"/>
                  </a:cubicBezTo>
                  <a:lnTo>
                    <a:pt x="3426841" y="496062"/>
                  </a:lnTo>
                  <a:cubicBezTo>
                    <a:pt x="3426841" y="559308"/>
                    <a:pt x="3375533" y="610616"/>
                    <a:pt x="3312414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6217539" y="5175123"/>
            <a:ext cx="2570226" cy="238506"/>
            <a:chOff x="0" y="0"/>
            <a:chExt cx="3426968" cy="31800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426968" cy="318008"/>
            </a:xfrm>
            <a:custGeom>
              <a:avLst/>
              <a:gdLst/>
              <a:ahLst/>
              <a:cxnLst/>
              <a:rect r="r" b="b" t="t" l="l"/>
              <a:pathLst>
                <a:path h="318008" w="3426968">
                  <a:moveTo>
                    <a:pt x="0" y="0"/>
                  </a:moveTo>
                  <a:lnTo>
                    <a:pt x="3426968" y="0"/>
                  </a:lnTo>
                  <a:lnTo>
                    <a:pt x="3426968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6364224" y="4965192"/>
            <a:ext cx="2276856" cy="438912"/>
            <a:chOff x="0" y="0"/>
            <a:chExt cx="3035808" cy="58521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035808" cy="585216"/>
            </a:xfrm>
            <a:custGeom>
              <a:avLst/>
              <a:gdLst/>
              <a:ahLst/>
              <a:cxnLst/>
              <a:rect r="r" b="b" t="t" l="l"/>
              <a:pathLst>
                <a:path h="585216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78" r="0" b="-5107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03580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RUTA / HORARIO / SERVICIO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6364224" y="5392293"/>
            <a:ext cx="2276856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origen, destino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horario, estado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9317355" y="2322195"/>
            <a:ext cx="8042910" cy="704850"/>
            <a:chOff x="0" y="0"/>
            <a:chExt cx="10723880" cy="939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723880" cy="939800"/>
            </a:xfrm>
            <a:custGeom>
              <a:avLst/>
              <a:gdLst/>
              <a:ahLst/>
              <a:cxnLst/>
              <a:rect r="r" b="b" t="t" l="l"/>
              <a:pathLst>
                <a:path h="939800" w="10723880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10554716" y="0"/>
                  </a:lnTo>
                  <a:cubicBezTo>
                    <a:pt x="10648188" y="0"/>
                    <a:pt x="10723880" y="75692"/>
                    <a:pt x="10723880" y="169164"/>
                  </a:cubicBezTo>
                  <a:lnTo>
                    <a:pt x="10723880" y="770636"/>
                  </a:lnTo>
                  <a:cubicBezTo>
                    <a:pt x="10723880" y="864108"/>
                    <a:pt x="10648188" y="939800"/>
                    <a:pt x="10554716" y="939800"/>
                  </a:cubicBezTo>
                  <a:lnTo>
                    <a:pt x="169164" y="939800"/>
                  </a:lnTo>
                  <a:cubicBezTo>
                    <a:pt x="75692" y="939800"/>
                    <a:pt x="0" y="864108"/>
                    <a:pt x="0" y="770636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0E8C82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454515" y="2404491"/>
            <a:ext cx="540258" cy="540258"/>
            <a:chOff x="0" y="0"/>
            <a:chExt cx="720344" cy="72034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581312" y="2531288"/>
            <a:ext cx="286664" cy="286664"/>
            <a:chOff x="0" y="0"/>
            <a:chExt cx="382219" cy="382219"/>
          </a:xfrm>
        </p:grpSpPr>
        <p:sp>
          <p:nvSpPr>
            <p:cNvPr name="Freeform 82" id="82" descr="/home/claude/work/icons/cloud_white.png"/>
            <p:cNvSpPr/>
            <p:nvPr/>
          </p:nvSpPr>
          <p:spPr>
            <a:xfrm flipH="false" flipV="false" rot="0">
              <a:off x="0" y="0"/>
              <a:ext cx="382270" cy="382270"/>
            </a:xfrm>
            <a:custGeom>
              <a:avLst/>
              <a:gdLst/>
              <a:ahLst/>
              <a:cxnLst/>
              <a:rect r="r" b="b" t="t" l="l"/>
              <a:pathLst>
                <a:path h="382270" w="382270">
                  <a:moveTo>
                    <a:pt x="0" y="0"/>
                  </a:moveTo>
                  <a:lnTo>
                    <a:pt x="382270" y="0"/>
                  </a:lnTo>
                  <a:lnTo>
                    <a:pt x="382270" y="382270"/>
                  </a:lnTo>
                  <a:lnTo>
                    <a:pt x="0" y="382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3" b="13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122408" y="2331720"/>
            <a:ext cx="7063740" cy="685800"/>
            <a:chOff x="0" y="0"/>
            <a:chExt cx="9418320" cy="914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418320" cy="914400"/>
            </a:xfrm>
            <a:custGeom>
              <a:avLst/>
              <a:gdLst/>
              <a:ahLst/>
              <a:cxnLst/>
              <a:rect r="r" b="b" t="t" l="l"/>
              <a:pathLst>
                <a:path h="9144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695" r="0" b="-15069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94183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MongoDB — Datos flexibles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17355" y="3254883"/>
            <a:ext cx="8042910" cy="1418082"/>
            <a:chOff x="0" y="0"/>
            <a:chExt cx="10723880" cy="189077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723880" cy="1890776"/>
            </a:xfrm>
            <a:custGeom>
              <a:avLst/>
              <a:gdLst/>
              <a:ahLst/>
              <a:cxnLst/>
              <a:rect r="r" b="b" t="t" l="l"/>
              <a:pathLst>
                <a:path h="1890776" w="1072388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612628" y="0"/>
                  </a:lnTo>
                  <a:cubicBezTo>
                    <a:pt x="10674097" y="0"/>
                    <a:pt x="10723880" y="49784"/>
                    <a:pt x="10723880" y="111252"/>
                  </a:cubicBezTo>
                  <a:lnTo>
                    <a:pt x="10723880" y="1779524"/>
                  </a:lnTo>
                  <a:cubicBezTo>
                    <a:pt x="10723880" y="1840992"/>
                    <a:pt x="10674097" y="1890776"/>
                    <a:pt x="10612628" y="1890776"/>
                  </a:cubicBezTo>
                  <a:lnTo>
                    <a:pt x="111252" y="1890776"/>
                  </a:lnTo>
                  <a:cubicBezTo>
                    <a:pt x="49784" y="1890776"/>
                    <a:pt x="0" y="1840992"/>
                    <a:pt x="0" y="17795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9317355" y="3254883"/>
            <a:ext cx="8042910" cy="457962"/>
            <a:chOff x="0" y="0"/>
            <a:chExt cx="10723880" cy="61061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723753" cy="610616"/>
            </a:xfrm>
            <a:custGeom>
              <a:avLst/>
              <a:gdLst/>
              <a:ahLst/>
              <a:cxnLst/>
              <a:rect r="r" b="b" t="t" l="l"/>
              <a:pathLst>
                <a:path h="610616" w="10723753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0609326" y="0"/>
                  </a:lnTo>
                  <a:cubicBezTo>
                    <a:pt x="10672572" y="0"/>
                    <a:pt x="10723753" y="51308"/>
                    <a:pt x="10723753" y="114427"/>
                  </a:cubicBezTo>
                  <a:lnTo>
                    <a:pt x="10723753" y="496062"/>
                  </a:lnTo>
                  <a:cubicBezTo>
                    <a:pt x="10723753" y="559308"/>
                    <a:pt x="10672445" y="610616"/>
                    <a:pt x="10609326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0C6A6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317355" y="3474339"/>
            <a:ext cx="8042910" cy="238506"/>
            <a:chOff x="0" y="0"/>
            <a:chExt cx="10723880" cy="31800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723880" cy="318008"/>
            </a:xfrm>
            <a:custGeom>
              <a:avLst/>
              <a:gdLst/>
              <a:ahLst/>
              <a:cxnLst/>
              <a:rect r="r" b="b" t="t" l="l"/>
              <a:pathLst>
                <a:path h="318008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0C6A6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9464040" y="3264408"/>
            <a:ext cx="7749540" cy="438912"/>
            <a:chOff x="0" y="0"/>
            <a:chExt cx="10332720" cy="58521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3327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032" r="0" b="-29403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332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RUTAS Y RECORRIDOS</a:t>
              </a: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9464040" y="3691509"/>
            <a:ext cx="774954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Planificación de rutas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Documentos anidados por servicio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9317355" y="4845939"/>
            <a:ext cx="8042910" cy="1418082"/>
            <a:chOff x="0" y="0"/>
            <a:chExt cx="10723880" cy="189077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723880" cy="1890776"/>
            </a:xfrm>
            <a:custGeom>
              <a:avLst/>
              <a:gdLst/>
              <a:ahLst/>
              <a:cxnLst/>
              <a:rect r="r" b="b" t="t" l="l"/>
              <a:pathLst>
                <a:path h="1890776" w="1072388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612628" y="0"/>
                  </a:lnTo>
                  <a:cubicBezTo>
                    <a:pt x="10674097" y="0"/>
                    <a:pt x="10723880" y="49784"/>
                    <a:pt x="10723880" y="111252"/>
                  </a:cubicBezTo>
                  <a:lnTo>
                    <a:pt x="10723880" y="1779524"/>
                  </a:lnTo>
                  <a:cubicBezTo>
                    <a:pt x="10723880" y="1840992"/>
                    <a:pt x="10674097" y="1890776"/>
                    <a:pt x="10612628" y="1890776"/>
                  </a:cubicBezTo>
                  <a:lnTo>
                    <a:pt x="111252" y="1890776"/>
                  </a:lnTo>
                  <a:cubicBezTo>
                    <a:pt x="49784" y="1890776"/>
                    <a:pt x="0" y="1840992"/>
                    <a:pt x="0" y="17795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9317355" y="4845939"/>
            <a:ext cx="8042910" cy="457962"/>
            <a:chOff x="0" y="0"/>
            <a:chExt cx="10723880" cy="61061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723753" cy="610616"/>
            </a:xfrm>
            <a:custGeom>
              <a:avLst/>
              <a:gdLst/>
              <a:ahLst/>
              <a:cxnLst/>
              <a:rect r="r" b="b" t="t" l="l"/>
              <a:pathLst>
                <a:path h="610616" w="10723753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0609326" y="0"/>
                  </a:lnTo>
                  <a:cubicBezTo>
                    <a:pt x="10672572" y="0"/>
                    <a:pt x="10723753" y="51308"/>
                    <a:pt x="10723753" y="114427"/>
                  </a:cubicBezTo>
                  <a:lnTo>
                    <a:pt x="10723753" y="496062"/>
                  </a:lnTo>
                  <a:cubicBezTo>
                    <a:pt x="10723753" y="559308"/>
                    <a:pt x="10672445" y="610616"/>
                    <a:pt x="10609326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0C6A6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9317355" y="5065395"/>
            <a:ext cx="8042910" cy="238506"/>
            <a:chOff x="0" y="0"/>
            <a:chExt cx="10723880" cy="31800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723880" cy="318008"/>
            </a:xfrm>
            <a:custGeom>
              <a:avLst/>
              <a:gdLst/>
              <a:ahLst/>
              <a:cxnLst/>
              <a:rect r="r" b="b" t="t" l="l"/>
              <a:pathLst>
                <a:path h="318008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0C6A6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9464040" y="4855464"/>
            <a:ext cx="7749540" cy="438912"/>
            <a:chOff x="0" y="0"/>
            <a:chExt cx="10332720" cy="58521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3327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032" r="0" b="-294032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10332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REGISTRO DE ASISTENCIA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9464040" y="5282565"/>
            <a:ext cx="774954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Eventos de escaneo QR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Timestamp y geolocalización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9317355" y="6436995"/>
            <a:ext cx="8042910" cy="1418082"/>
            <a:chOff x="0" y="0"/>
            <a:chExt cx="10723880" cy="189077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723880" cy="1890776"/>
            </a:xfrm>
            <a:custGeom>
              <a:avLst/>
              <a:gdLst/>
              <a:ahLst/>
              <a:cxnLst/>
              <a:rect r="r" b="b" t="t" l="l"/>
              <a:pathLst>
                <a:path h="1890776" w="1072388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612628" y="0"/>
                  </a:lnTo>
                  <a:cubicBezTo>
                    <a:pt x="10674097" y="0"/>
                    <a:pt x="10723880" y="49784"/>
                    <a:pt x="10723880" y="111252"/>
                  </a:cubicBezTo>
                  <a:lnTo>
                    <a:pt x="10723880" y="1779524"/>
                  </a:lnTo>
                  <a:cubicBezTo>
                    <a:pt x="10723880" y="1840992"/>
                    <a:pt x="10674097" y="1890776"/>
                    <a:pt x="10612628" y="1890776"/>
                  </a:cubicBezTo>
                  <a:lnTo>
                    <a:pt x="111252" y="1890776"/>
                  </a:lnTo>
                  <a:cubicBezTo>
                    <a:pt x="49784" y="1890776"/>
                    <a:pt x="0" y="1840992"/>
                    <a:pt x="0" y="17795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9317355" y="6436995"/>
            <a:ext cx="8042910" cy="457962"/>
            <a:chOff x="0" y="0"/>
            <a:chExt cx="10723880" cy="61061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723753" cy="610616"/>
            </a:xfrm>
            <a:custGeom>
              <a:avLst/>
              <a:gdLst/>
              <a:ahLst/>
              <a:cxnLst/>
              <a:rect r="r" b="b" t="t" l="l"/>
              <a:pathLst>
                <a:path h="610616" w="10723753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0609326" y="0"/>
                  </a:lnTo>
                  <a:cubicBezTo>
                    <a:pt x="10672572" y="0"/>
                    <a:pt x="10723753" y="51308"/>
                    <a:pt x="10723753" y="114427"/>
                  </a:cubicBezTo>
                  <a:lnTo>
                    <a:pt x="10723753" y="496062"/>
                  </a:lnTo>
                  <a:cubicBezTo>
                    <a:pt x="10723753" y="559308"/>
                    <a:pt x="10672445" y="610616"/>
                    <a:pt x="10609326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0C6A6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9317355" y="6656451"/>
            <a:ext cx="8042910" cy="238506"/>
            <a:chOff x="0" y="0"/>
            <a:chExt cx="10723880" cy="31800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723880" cy="318008"/>
            </a:xfrm>
            <a:custGeom>
              <a:avLst/>
              <a:gdLst/>
              <a:ahLst/>
              <a:cxnLst/>
              <a:rect r="r" b="b" t="t" l="l"/>
              <a:pathLst>
                <a:path h="318008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0C6A6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9464040" y="6446520"/>
            <a:ext cx="7749540" cy="438912"/>
            <a:chOff x="0" y="0"/>
            <a:chExt cx="10332720" cy="58521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03327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032" r="0" b="-294032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10332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HISTORIAL DE SERVICIOS</a:t>
              </a:r>
            </a:p>
          </p:txBody>
        </p:sp>
      </p:grpSp>
      <p:sp>
        <p:nvSpPr>
          <p:cNvPr name="TextBox 115" id="115"/>
          <p:cNvSpPr txBox="true"/>
          <p:nvPr/>
        </p:nvSpPr>
        <p:spPr>
          <a:xfrm rot="0">
            <a:off x="9464040" y="6873621"/>
            <a:ext cx="774954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Servicios ejecutados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Trazabilidad histórica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9326880" y="8068056"/>
            <a:ext cx="802386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i="true">
                <a:solidFill>
                  <a:srgbClr val="5B6B8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Colecciones orientadas a información de planificación y trazabilidad de recorridos, con estructura más flexible que los datos maestros.</a:t>
            </a:r>
          </a:p>
        </p:txBody>
      </p:sp>
      <p:grpSp>
        <p:nvGrpSpPr>
          <p:cNvPr name="Group 117" id="117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 · INGENIERÍA DE REQUISITOS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Requisitos funcionales y no funcionales preliminares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349627"/>
            <a:ext cx="7905750" cy="5985510"/>
            <a:chOff x="0" y="0"/>
            <a:chExt cx="10541000" cy="7980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7980680"/>
            </a:xfrm>
            <a:custGeom>
              <a:avLst/>
              <a:gdLst/>
              <a:ahLst/>
              <a:cxnLst/>
              <a:rect r="r" b="b" t="t" l="l"/>
              <a:pathLst>
                <a:path h="7980680" w="105410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10375900" y="0"/>
                  </a:lnTo>
                  <a:cubicBezTo>
                    <a:pt x="10467086" y="0"/>
                    <a:pt x="10541000" y="73914"/>
                    <a:pt x="10541000" y="165100"/>
                  </a:cubicBezTo>
                  <a:lnTo>
                    <a:pt x="10541000" y="7815580"/>
                  </a:lnTo>
                  <a:cubicBezTo>
                    <a:pt x="10541000" y="7906766"/>
                    <a:pt x="10467086" y="7980680"/>
                    <a:pt x="10375900" y="7980680"/>
                  </a:cubicBezTo>
                  <a:lnTo>
                    <a:pt x="165100" y="7980680"/>
                  </a:lnTo>
                  <a:cubicBezTo>
                    <a:pt x="73914" y="7980680"/>
                    <a:pt x="0" y="7906766"/>
                    <a:pt x="0" y="78155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01471" y="2678811"/>
            <a:ext cx="704850" cy="704850"/>
            <a:chOff x="0" y="0"/>
            <a:chExt cx="939800" cy="939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65301" y="2842641"/>
            <a:ext cx="377190" cy="377190"/>
            <a:chOff x="0" y="0"/>
            <a:chExt cx="502920" cy="502920"/>
          </a:xfrm>
        </p:grpSpPr>
        <p:sp>
          <p:nvSpPr>
            <p:cNvPr name="Freeform 13" id="13" descr="/home/claude/work/icons/check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16252" y="2688336"/>
            <a:ext cx="6377940" cy="685800"/>
            <a:chOff x="0" y="0"/>
            <a:chExt cx="850392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03920" cy="914400"/>
            </a:xfrm>
            <a:custGeom>
              <a:avLst/>
              <a:gdLst/>
              <a:ahLst/>
              <a:cxnLst/>
              <a:rect r="r" b="b" t="t" l="l"/>
              <a:pathLst>
                <a:path h="91440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503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REQUISITOS FUNCIONALES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10996" y="3633597"/>
            <a:ext cx="7200900" cy="441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Gestionar empresas clientes, pasajeros, conductores y vehículos.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Planificar y asignar rutas, horarios y servicios de transporte.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Generar código QR por servicio y registrar asistencia al escanearlo.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Visualizar indicadores operacionales en un dashboard.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Consultar servicios asignados desde la app móvil.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Generar reportes y planillas mensuales exportables.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Autenticar y controlar el acceso según el rol de usuario.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17355" y="2349627"/>
            <a:ext cx="7905750" cy="5985510"/>
            <a:chOff x="0" y="0"/>
            <a:chExt cx="10541000" cy="7980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41000" cy="7980680"/>
            </a:xfrm>
            <a:custGeom>
              <a:avLst/>
              <a:gdLst/>
              <a:ahLst/>
              <a:cxnLst/>
              <a:rect r="r" b="b" t="t" l="l"/>
              <a:pathLst>
                <a:path h="7980680" w="105410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10375900" y="0"/>
                  </a:lnTo>
                  <a:cubicBezTo>
                    <a:pt x="10467086" y="0"/>
                    <a:pt x="10541000" y="73914"/>
                    <a:pt x="10541000" y="165100"/>
                  </a:cubicBezTo>
                  <a:lnTo>
                    <a:pt x="10541000" y="7815580"/>
                  </a:lnTo>
                  <a:cubicBezTo>
                    <a:pt x="10541000" y="7906766"/>
                    <a:pt x="10467086" y="7980680"/>
                    <a:pt x="10375900" y="7980680"/>
                  </a:cubicBezTo>
                  <a:lnTo>
                    <a:pt x="165100" y="7980680"/>
                  </a:lnTo>
                  <a:cubicBezTo>
                    <a:pt x="73914" y="7980680"/>
                    <a:pt x="0" y="7906766"/>
                    <a:pt x="0" y="78155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673971" y="2678811"/>
            <a:ext cx="704850" cy="704850"/>
            <a:chOff x="0" y="0"/>
            <a:chExt cx="939800" cy="939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837801" y="2842641"/>
            <a:ext cx="377190" cy="377190"/>
            <a:chOff x="0" y="0"/>
            <a:chExt cx="502920" cy="502920"/>
          </a:xfrm>
        </p:grpSpPr>
        <p:sp>
          <p:nvSpPr>
            <p:cNvPr name="Freeform 23" id="23" descr="/home/claude/work/icons/shield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588752" y="2688336"/>
            <a:ext cx="6377940" cy="685800"/>
            <a:chOff x="0" y="0"/>
            <a:chExt cx="850392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03920" cy="914400"/>
            </a:xfrm>
            <a:custGeom>
              <a:avLst/>
              <a:gdLst/>
              <a:ahLst/>
              <a:cxnLst/>
              <a:rect r="r" b="b" t="t" l="l"/>
              <a:pathLst>
                <a:path h="91440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8503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REQUISITOS NO FUNCIONALES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683496" y="3614547"/>
            <a:ext cx="72009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Usabilidad: </a:t>
            </a: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interfaz simple y clara para la app móvil.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83496" y="4327779"/>
            <a:ext cx="72009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Disponibilidad: </a:t>
            </a: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acceso a la plataforma durante el horario operacional.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83496" y="5041011"/>
            <a:ext cx="72009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Seguridad: </a:t>
            </a: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 de acceso por rol y protección de datos personales.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83496" y="5754243"/>
            <a:ext cx="72009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Escalabilidad: </a:t>
            </a: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 modular por componentes y por módulo.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83496" y="6467475"/>
            <a:ext cx="72009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Compatibilidad: </a:t>
            </a: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aplicación móvil funcional en dispositivos Android.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83496" y="7180707"/>
            <a:ext cx="72009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Mantenibilidad: </a:t>
            </a: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 modular, documentado y versionado en GitHub.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27901" y="1691157"/>
            <a:ext cx="16462362" cy="7819298"/>
          </a:xfrm>
          <a:custGeom>
            <a:avLst/>
            <a:gdLst/>
            <a:ahLst/>
            <a:cxnLst/>
            <a:rect r="r" b="b" t="t" l="l"/>
            <a:pathLst>
              <a:path h="7819298" w="16462362">
                <a:moveTo>
                  <a:pt x="0" y="0"/>
                </a:moveTo>
                <a:lnTo>
                  <a:pt x="16462362" y="0"/>
                </a:lnTo>
                <a:lnTo>
                  <a:pt x="16462362" y="7819299"/>
                </a:lnTo>
                <a:lnTo>
                  <a:pt x="0" y="781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705" r="0" b="-570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82955" y="1030217"/>
            <a:ext cx="3032760" cy="109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LOGIN</a:t>
            </a:r>
          </a:p>
          <a:p>
            <a:pPr algn="ctr">
              <a:lnSpc>
                <a:spcPts val="420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535136"/>
            <a:ext cx="15496546" cy="8230656"/>
          </a:xfrm>
          <a:custGeom>
            <a:avLst/>
            <a:gdLst/>
            <a:ahLst/>
            <a:cxnLst/>
            <a:rect r="r" b="b" t="t" l="l"/>
            <a:pathLst>
              <a:path h="8230656" w="15496546">
                <a:moveTo>
                  <a:pt x="0" y="0"/>
                </a:moveTo>
                <a:lnTo>
                  <a:pt x="15496546" y="0"/>
                </a:lnTo>
                <a:lnTo>
                  <a:pt x="15496546" y="8230656"/>
                </a:lnTo>
                <a:lnTo>
                  <a:pt x="0" y="8230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4380" y="895350"/>
            <a:ext cx="7086362" cy="55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 OPERACIONES DASHBOARD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4380" y="1587204"/>
            <a:ext cx="16179154" cy="8178588"/>
          </a:xfrm>
          <a:custGeom>
            <a:avLst/>
            <a:gdLst/>
            <a:ahLst/>
            <a:cxnLst/>
            <a:rect r="r" b="b" t="t" l="l"/>
            <a:pathLst>
              <a:path h="8178588" w="16179154">
                <a:moveTo>
                  <a:pt x="0" y="0"/>
                </a:moveTo>
                <a:lnTo>
                  <a:pt x="16179154" y="0"/>
                </a:lnTo>
                <a:lnTo>
                  <a:pt x="16179154" y="8178588"/>
                </a:lnTo>
                <a:lnTo>
                  <a:pt x="0" y="8178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4380" y="895350"/>
            <a:ext cx="7086362" cy="55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 OPERACIONES DASHBOARD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4380" y="1553209"/>
            <a:ext cx="15512657" cy="8212583"/>
          </a:xfrm>
          <a:custGeom>
            <a:avLst/>
            <a:gdLst/>
            <a:ahLst/>
            <a:cxnLst/>
            <a:rect r="r" b="b" t="t" l="l"/>
            <a:pathLst>
              <a:path h="8212583" w="15512657">
                <a:moveTo>
                  <a:pt x="0" y="0"/>
                </a:moveTo>
                <a:lnTo>
                  <a:pt x="15512657" y="0"/>
                </a:lnTo>
                <a:lnTo>
                  <a:pt x="15512657" y="8212583"/>
                </a:lnTo>
                <a:lnTo>
                  <a:pt x="0" y="82125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4380" y="895350"/>
            <a:ext cx="7086362" cy="55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 Empresas Clientes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4380" y="1535704"/>
            <a:ext cx="15545722" cy="8230088"/>
          </a:xfrm>
          <a:custGeom>
            <a:avLst/>
            <a:gdLst/>
            <a:ahLst/>
            <a:cxnLst/>
            <a:rect r="r" b="b" t="t" l="l"/>
            <a:pathLst>
              <a:path h="8230088" w="15545722">
                <a:moveTo>
                  <a:pt x="0" y="0"/>
                </a:moveTo>
                <a:lnTo>
                  <a:pt x="15545722" y="0"/>
                </a:lnTo>
                <a:lnTo>
                  <a:pt x="15545722" y="8230088"/>
                </a:lnTo>
                <a:lnTo>
                  <a:pt x="0" y="823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4380" y="895350"/>
            <a:ext cx="7086362" cy="55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 Gestión Pasajeros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4380" y="1529720"/>
            <a:ext cx="15500247" cy="8236072"/>
          </a:xfrm>
          <a:custGeom>
            <a:avLst/>
            <a:gdLst/>
            <a:ahLst/>
            <a:cxnLst/>
            <a:rect r="r" b="b" t="t" l="l"/>
            <a:pathLst>
              <a:path h="8236072" w="15500247">
                <a:moveTo>
                  <a:pt x="0" y="0"/>
                </a:moveTo>
                <a:lnTo>
                  <a:pt x="15500247" y="0"/>
                </a:lnTo>
                <a:lnTo>
                  <a:pt x="15500247" y="8236072"/>
                </a:lnTo>
                <a:lnTo>
                  <a:pt x="0" y="8236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4380" y="895350"/>
            <a:ext cx="7086362" cy="55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 Conductores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4380" y="1563112"/>
            <a:ext cx="15463904" cy="8202680"/>
          </a:xfrm>
          <a:custGeom>
            <a:avLst/>
            <a:gdLst/>
            <a:ahLst/>
            <a:cxnLst/>
            <a:rect r="r" b="b" t="t" l="l"/>
            <a:pathLst>
              <a:path h="8202680" w="15463904">
                <a:moveTo>
                  <a:pt x="0" y="0"/>
                </a:moveTo>
                <a:lnTo>
                  <a:pt x="15463904" y="0"/>
                </a:lnTo>
                <a:lnTo>
                  <a:pt x="15463904" y="8202680"/>
                </a:lnTo>
                <a:lnTo>
                  <a:pt x="0" y="8202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4380" y="895350"/>
            <a:ext cx="7086362" cy="55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 Vehículos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4380" y="1564758"/>
            <a:ext cx="15449626" cy="8201034"/>
          </a:xfrm>
          <a:custGeom>
            <a:avLst/>
            <a:gdLst/>
            <a:ahLst/>
            <a:cxnLst/>
            <a:rect r="r" b="b" t="t" l="l"/>
            <a:pathLst>
              <a:path h="8201034" w="15449626">
                <a:moveTo>
                  <a:pt x="0" y="0"/>
                </a:moveTo>
                <a:lnTo>
                  <a:pt x="15449626" y="0"/>
                </a:lnTo>
                <a:lnTo>
                  <a:pt x="15449626" y="8201034"/>
                </a:lnTo>
                <a:lnTo>
                  <a:pt x="0" y="8201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4380" y="895350"/>
            <a:ext cx="7086362" cy="55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 Planificación Rutas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Mockups tentativos — Aplicación móvil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82136" y="2294763"/>
            <a:ext cx="3242310" cy="5985510"/>
            <a:chOff x="0" y="0"/>
            <a:chExt cx="4323080" cy="7980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3080" cy="7980680"/>
            </a:xfrm>
            <a:custGeom>
              <a:avLst/>
              <a:gdLst/>
              <a:ahLst/>
              <a:cxnLst/>
              <a:rect r="r" b="b" t="t" l="l"/>
              <a:pathLst>
                <a:path h="7980680" w="4323080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lnTo>
                    <a:pt x="3918331" y="0"/>
                  </a:lnTo>
                  <a:cubicBezTo>
                    <a:pt x="4141851" y="0"/>
                    <a:pt x="4323080" y="181229"/>
                    <a:pt x="4323080" y="404749"/>
                  </a:cubicBezTo>
                  <a:lnTo>
                    <a:pt x="4323080" y="7575931"/>
                  </a:lnTo>
                  <a:cubicBezTo>
                    <a:pt x="4323080" y="7799451"/>
                    <a:pt x="4141851" y="7980680"/>
                    <a:pt x="3918331" y="7980680"/>
                  </a:cubicBezTo>
                  <a:lnTo>
                    <a:pt x="404749" y="7980680"/>
                  </a:lnTo>
                  <a:cubicBezTo>
                    <a:pt x="181229" y="7980680"/>
                    <a:pt x="0" y="7799451"/>
                    <a:pt x="0" y="7575931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778148" y="2390775"/>
            <a:ext cx="3050286" cy="5793486"/>
            <a:chOff x="0" y="0"/>
            <a:chExt cx="4067048" cy="77246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7048" cy="7724648"/>
            </a:xfrm>
            <a:custGeom>
              <a:avLst/>
              <a:gdLst/>
              <a:ahLst/>
              <a:cxnLst/>
              <a:rect r="r" b="b" t="t" l="l"/>
              <a:pathLst>
                <a:path h="7724648" w="4067048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3772535" y="0"/>
                  </a:lnTo>
                  <a:cubicBezTo>
                    <a:pt x="3935095" y="0"/>
                    <a:pt x="4067048" y="131826"/>
                    <a:pt x="4067048" y="294513"/>
                  </a:cubicBezTo>
                  <a:lnTo>
                    <a:pt x="4067048" y="7430135"/>
                  </a:lnTo>
                  <a:cubicBezTo>
                    <a:pt x="4067048" y="7592695"/>
                    <a:pt x="3935222" y="7724648"/>
                    <a:pt x="3772535" y="7724648"/>
                  </a:cubicBezTo>
                  <a:lnTo>
                    <a:pt x="294513" y="7724648"/>
                  </a:lnTo>
                  <a:cubicBezTo>
                    <a:pt x="131826" y="7724648"/>
                    <a:pt x="0" y="7592822"/>
                    <a:pt x="0" y="74301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787673" y="2441448"/>
            <a:ext cx="3031236" cy="274320"/>
            <a:chOff x="0" y="0"/>
            <a:chExt cx="4041648" cy="365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41648" cy="365760"/>
            </a:xfrm>
            <a:custGeom>
              <a:avLst/>
              <a:gdLst/>
              <a:ahLst/>
              <a:cxnLst/>
              <a:rect r="r" b="b" t="t" l="l"/>
              <a:pathLst>
                <a:path h="36576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309" r="0" b="-16530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041648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9:41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909718" y="2953131"/>
            <a:ext cx="787146" cy="787146"/>
            <a:chOff x="0" y="0"/>
            <a:chExt cx="1049528" cy="10495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111267" y="3154680"/>
            <a:ext cx="384048" cy="384048"/>
            <a:chOff x="0" y="0"/>
            <a:chExt cx="512064" cy="512064"/>
          </a:xfrm>
        </p:grpSpPr>
        <p:sp>
          <p:nvSpPr>
            <p:cNvPr name="Freeform 18" id="18" descr="/home/claude/work/icons/bus_amber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897401" y="3922776"/>
            <a:ext cx="2811780" cy="384048"/>
            <a:chOff x="0" y="0"/>
            <a:chExt cx="3749040" cy="5120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49040" cy="512064"/>
            </a:xfrm>
            <a:custGeom>
              <a:avLst/>
              <a:gdLst/>
              <a:ahLst/>
              <a:cxnLst/>
              <a:rect r="r" b="b" t="t" l="l"/>
              <a:pathLst>
                <a:path h="512064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658" r="0" b="-9265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74904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Bienvenido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97401" y="4306824"/>
            <a:ext cx="2811780" cy="548640"/>
            <a:chOff x="0" y="0"/>
            <a:chExt cx="37490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4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7490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sz="112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Ingresa como pasajero o conductor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025036" y="4969383"/>
            <a:ext cx="2556510" cy="457962"/>
            <a:chOff x="0" y="0"/>
            <a:chExt cx="3408680" cy="6106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08553" cy="610616"/>
            </a:xfrm>
            <a:custGeom>
              <a:avLst/>
              <a:gdLst/>
              <a:ahLst/>
              <a:cxnLst/>
              <a:rect r="r" b="b" t="t" l="l"/>
              <a:pathLst>
                <a:path h="610616" w="3408553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294126" y="0"/>
                  </a:lnTo>
                  <a:cubicBezTo>
                    <a:pt x="3357372" y="0"/>
                    <a:pt x="3408553" y="51308"/>
                    <a:pt x="3408553" y="114427"/>
                  </a:cubicBezTo>
                  <a:lnTo>
                    <a:pt x="3408553" y="496062"/>
                  </a:lnTo>
                  <a:cubicBezTo>
                    <a:pt x="3408553" y="559308"/>
                    <a:pt x="3357245" y="610616"/>
                    <a:pt x="3294126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4144289" y="4978908"/>
            <a:ext cx="2400300" cy="438912"/>
            <a:chOff x="0" y="0"/>
            <a:chExt cx="320040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0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558" r="0" b="-5655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320040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usuario@correo.cl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025036" y="5545455"/>
            <a:ext cx="2556510" cy="457962"/>
            <a:chOff x="0" y="0"/>
            <a:chExt cx="3408680" cy="6106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08553" cy="610616"/>
            </a:xfrm>
            <a:custGeom>
              <a:avLst/>
              <a:gdLst/>
              <a:ahLst/>
              <a:cxnLst/>
              <a:rect r="r" b="b" t="t" l="l"/>
              <a:pathLst>
                <a:path h="610616" w="3408553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294126" y="0"/>
                  </a:lnTo>
                  <a:cubicBezTo>
                    <a:pt x="3357372" y="0"/>
                    <a:pt x="3408553" y="51308"/>
                    <a:pt x="3408553" y="114427"/>
                  </a:cubicBezTo>
                  <a:lnTo>
                    <a:pt x="3408553" y="496062"/>
                  </a:lnTo>
                  <a:cubicBezTo>
                    <a:pt x="3408553" y="559308"/>
                    <a:pt x="3357245" y="610616"/>
                    <a:pt x="3294126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144289" y="5554980"/>
            <a:ext cx="2400300" cy="438912"/>
            <a:chOff x="0" y="0"/>
            <a:chExt cx="320040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0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558" r="0" b="-5655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20040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••••••••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025036" y="6244971"/>
            <a:ext cx="2556510" cy="512826"/>
            <a:chOff x="0" y="0"/>
            <a:chExt cx="3408680" cy="6837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08680" cy="683768"/>
            </a:xfrm>
            <a:custGeom>
              <a:avLst/>
              <a:gdLst/>
              <a:ahLst/>
              <a:cxnLst/>
              <a:rect r="r" b="b" t="t" l="l"/>
              <a:pathLst>
                <a:path h="683768" w="340868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3066796" y="0"/>
                  </a:lnTo>
                  <a:cubicBezTo>
                    <a:pt x="3255645" y="0"/>
                    <a:pt x="3408680" y="153035"/>
                    <a:pt x="3408680" y="341884"/>
                  </a:cubicBezTo>
                  <a:cubicBezTo>
                    <a:pt x="3408680" y="530733"/>
                    <a:pt x="3255645" y="683768"/>
                    <a:pt x="306679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4034561" y="6254496"/>
            <a:ext cx="2537460" cy="493776"/>
            <a:chOff x="0" y="0"/>
            <a:chExt cx="3383280" cy="6583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383280" cy="658368"/>
            </a:xfrm>
            <a:custGeom>
              <a:avLst/>
              <a:gdLst/>
              <a:ahLst/>
              <a:cxnLst/>
              <a:rect r="r" b="b" t="t" l="l"/>
              <a:pathLst>
                <a:path h="658368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131" r="0" b="-5013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338328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Ingresar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897401" y="6899148"/>
            <a:ext cx="2811780" cy="342900"/>
            <a:chOff x="0" y="0"/>
            <a:chExt cx="3749040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49040" cy="457200"/>
            </a:xfrm>
            <a:custGeom>
              <a:avLst/>
              <a:gdLst/>
              <a:ahLst/>
              <a:cxnLst/>
              <a:rect r="r" b="b" t="t" l="l"/>
              <a:pathLst>
                <a:path h="45720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374904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23"/>
                </a:lnSpc>
              </a:pPr>
              <a:r>
                <a:rPr lang="en-US" sz="1019">
                  <a:solidFill>
                    <a:srgbClr val="0E8C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¿Olvidaste tu contraseña?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522616" y="2294763"/>
            <a:ext cx="3242310" cy="5985510"/>
            <a:chOff x="0" y="0"/>
            <a:chExt cx="4323080" cy="7980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23080" cy="7980680"/>
            </a:xfrm>
            <a:custGeom>
              <a:avLst/>
              <a:gdLst/>
              <a:ahLst/>
              <a:cxnLst/>
              <a:rect r="r" b="b" t="t" l="l"/>
              <a:pathLst>
                <a:path h="7980680" w="4323080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lnTo>
                    <a:pt x="3918331" y="0"/>
                  </a:lnTo>
                  <a:cubicBezTo>
                    <a:pt x="4141851" y="0"/>
                    <a:pt x="4323080" y="181229"/>
                    <a:pt x="4323080" y="404749"/>
                  </a:cubicBezTo>
                  <a:lnTo>
                    <a:pt x="4323080" y="7575931"/>
                  </a:lnTo>
                  <a:cubicBezTo>
                    <a:pt x="4323080" y="7799451"/>
                    <a:pt x="4141851" y="7980680"/>
                    <a:pt x="3918331" y="7980680"/>
                  </a:cubicBezTo>
                  <a:lnTo>
                    <a:pt x="404749" y="7980680"/>
                  </a:lnTo>
                  <a:cubicBezTo>
                    <a:pt x="181229" y="7980680"/>
                    <a:pt x="0" y="7799451"/>
                    <a:pt x="0" y="7575931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618628" y="2390775"/>
            <a:ext cx="3050286" cy="5793486"/>
            <a:chOff x="0" y="0"/>
            <a:chExt cx="4067048" cy="77246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67048" cy="7724648"/>
            </a:xfrm>
            <a:custGeom>
              <a:avLst/>
              <a:gdLst/>
              <a:ahLst/>
              <a:cxnLst/>
              <a:rect r="r" b="b" t="t" l="l"/>
              <a:pathLst>
                <a:path h="7724648" w="4067048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3772535" y="0"/>
                  </a:lnTo>
                  <a:cubicBezTo>
                    <a:pt x="3935095" y="0"/>
                    <a:pt x="4067048" y="131826"/>
                    <a:pt x="4067048" y="294513"/>
                  </a:cubicBezTo>
                  <a:lnTo>
                    <a:pt x="4067048" y="7430135"/>
                  </a:lnTo>
                  <a:cubicBezTo>
                    <a:pt x="4067048" y="7592695"/>
                    <a:pt x="3935222" y="7724648"/>
                    <a:pt x="3772535" y="7724648"/>
                  </a:cubicBezTo>
                  <a:lnTo>
                    <a:pt x="294513" y="7724648"/>
                  </a:lnTo>
                  <a:cubicBezTo>
                    <a:pt x="131826" y="7724648"/>
                    <a:pt x="0" y="7592822"/>
                    <a:pt x="0" y="74301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7628153" y="2441448"/>
            <a:ext cx="3031236" cy="274320"/>
            <a:chOff x="0" y="0"/>
            <a:chExt cx="4041648" cy="365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41648" cy="365760"/>
            </a:xfrm>
            <a:custGeom>
              <a:avLst/>
              <a:gdLst/>
              <a:ahLst/>
              <a:cxnLst/>
              <a:rect r="r" b="b" t="t" l="l"/>
              <a:pathLst>
                <a:path h="36576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309" r="0" b="-16530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041648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9:41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737881" y="2784348"/>
            <a:ext cx="2811780" cy="329184"/>
            <a:chOff x="0" y="0"/>
            <a:chExt cx="3749040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749040" cy="438912"/>
            </a:xfrm>
            <a:custGeom>
              <a:avLst/>
              <a:gdLst/>
              <a:ahLst/>
              <a:cxnLst/>
              <a:rect r="r" b="b" t="t" l="l"/>
              <a:pathLst>
                <a:path h="438912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37490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‹  Mi servicio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728356" y="3227451"/>
            <a:ext cx="2830830" cy="2460498"/>
            <a:chOff x="0" y="0"/>
            <a:chExt cx="3774440" cy="32806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774440" cy="3280664"/>
            </a:xfrm>
            <a:custGeom>
              <a:avLst/>
              <a:gdLst/>
              <a:ahLst/>
              <a:cxnLst/>
              <a:rect r="r" b="b" t="t" l="l"/>
              <a:pathLst>
                <a:path h="3280664" w="377444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3626993" y="0"/>
                  </a:lnTo>
                  <a:cubicBezTo>
                    <a:pt x="3708400" y="0"/>
                    <a:pt x="3774440" y="66040"/>
                    <a:pt x="3774440" y="147447"/>
                  </a:cubicBezTo>
                  <a:lnTo>
                    <a:pt x="3774440" y="3133217"/>
                  </a:lnTo>
                  <a:cubicBezTo>
                    <a:pt x="3774440" y="3214624"/>
                    <a:pt x="3708400" y="3280664"/>
                    <a:pt x="3626993" y="3280664"/>
                  </a:cubicBezTo>
                  <a:lnTo>
                    <a:pt x="147447" y="3280664"/>
                  </a:lnTo>
                  <a:cubicBezTo>
                    <a:pt x="66040" y="3280664"/>
                    <a:pt x="0" y="3214624"/>
                    <a:pt x="0" y="3133217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7865516" y="3392043"/>
            <a:ext cx="1184910" cy="348234"/>
            <a:chOff x="0" y="0"/>
            <a:chExt cx="1579880" cy="4643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79880" cy="464312"/>
            </a:xfrm>
            <a:custGeom>
              <a:avLst/>
              <a:gdLst/>
              <a:ahLst/>
              <a:cxnLst/>
              <a:rect r="r" b="b" t="t" l="l"/>
              <a:pathLst>
                <a:path h="464312" w="1579880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lnTo>
                    <a:pt x="1347724" y="0"/>
                  </a:lnTo>
                  <a:cubicBezTo>
                    <a:pt x="1475994" y="0"/>
                    <a:pt x="1579880" y="103886"/>
                    <a:pt x="1579880" y="232156"/>
                  </a:cubicBezTo>
                  <a:cubicBezTo>
                    <a:pt x="1579880" y="360426"/>
                    <a:pt x="1475994" y="464312"/>
                    <a:pt x="1347724" y="464312"/>
                  </a:cubicBezTo>
                  <a:lnTo>
                    <a:pt x="232156" y="464312"/>
                  </a:ln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7875041" y="3401568"/>
            <a:ext cx="1165860" cy="329184"/>
            <a:chOff x="0" y="0"/>
            <a:chExt cx="1554480" cy="43891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5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09" r="0" b="-1900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55448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0E6E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Confirmado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875041" y="3826764"/>
            <a:ext cx="2537460" cy="356616"/>
            <a:chOff x="0" y="0"/>
            <a:chExt cx="3383280" cy="4754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383280" cy="475488"/>
            </a:xfrm>
            <a:custGeom>
              <a:avLst/>
              <a:gdLst/>
              <a:ahLst/>
              <a:cxnLst/>
              <a:rect r="r" b="b" t="t" l="l"/>
              <a:pathLst>
                <a:path h="475488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338328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Ruta Norte — Servicio AM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875041" y="4238244"/>
            <a:ext cx="1028700" cy="260604"/>
            <a:chOff x="0" y="0"/>
            <a:chExt cx="1371600" cy="3474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71600" cy="347472"/>
            </a:xfrm>
            <a:custGeom>
              <a:avLst/>
              <a:gdLst/>
              <a:ahLst/>
              <a:cxnLst/>
              <a:rect r="r" b="b" t="t" l="l"/>
              <a:pathLst>
                <a:path h="34747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37160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Origen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972321" y="4238244"/>
            <a:ext cx="1440180" cy="260604"/>
            <a:chOff x="0" y="0"/>
            <a:chExt cx="1920240" cy="34747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20240" cy="347472"/>
            </a:xfrm>
            <a:custGeom>
              <a:avLst/>
              <a:gdLst/>
              <a:ahLst/>
              <a:cxnLst/>
              <a:rect r="r" b="b" t="t" l="l"/>
              <a:pathLst>
                <a:path h="34747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92024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Terminal Angelmó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875041" y="4498848"/>
            <a:ext cx="1028700" cy="260604"/>
            <a:chOff x="0" y="0"/>
            <a:chExt cx="1371600" cy="34747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71600" cy="347472"/>
            </a:xfrm>
            <a:custGeom>
              <a:avLst/>
              <a:gdLst/>
              <a:ahLst/>
              <a:cxnLst/>
              <a:rect r="r" b="b" t="t" l="l"/>
              <a:pathLst>
                <a:path h="34747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137160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Destino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972321" y="4498848"/>
            <a:ext cx="1440180" cy="260604"/>
            <a:chOff x="0" y="0"/>
            <a:chExt cx="1920240" cy="3474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920240" cy="347472"/>
            </a:xfrm>
            <a:custGeom>
              <a:avLst/>
              <a:gdLst/>
              <a:ahLst/>
              <a:cxnLst/>
              <a:rect r="r" b="b" t="t" l="l"/>
              <a:pathLst>
                <a:path h="34747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192024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Planta Ind. Norte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875041" y="4759452"/>
            <a:ext cx="1028700" cy="260604"/>
            <a:chOff x="0" y="0"/>
            <a:chExt cx="1371600" cy="3474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71600" cy="347472"/>
            </a:xfrm>
            <a:custGeom>
              <a:avLst/>
              <a:gdLst/>
              <a:ahLst/>
              <a:cxnLst/>
              <a:rect r="r" b="b" t="t" l="l"/>
              <a:pathLst>
                <a:path h="34747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137160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Hora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972321" y="4759452"/>
            <a:ext cx="1440180" cy="260604"/>
            <a:chOff x="0" y="0"/>
            <a:chExt cx="1920240" cy="34747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920240" cy="347472"/>
            </a:xfrm>
            <a:custGeom>
              <a:avLst/>
              <a:gdLst/>
              <a:ahLst/>
              <a:cxnLst/>
              <a:rect r="r" b="b" t="t" l="l"/>
              <a:pathLst>
                <a:path h="34747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192024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07:30 hrs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875041" y="5020056"/>
            <a:ext cx="1028700" cy="260604"/>
            <a:chOff x="0" y="0"/>
            <a:chExt cx="1371600" cy="34747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371600" cy="347472"/>
            </a:xfrm>
            <a:custGeom>
              <a:avLst/>
              <a:gdLst/>
              <a:ahLst/>
              <a:cxnLst/>
              <a:rect r="r" b="b" t="t" l="l"/>
              <a:pathLst>
                <a:path h="34747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37160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Conductor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972321" y="5020056"/>
            <a:ext cx="1440180" cy="260604"/>
            <a:chOff x="0" y="0"/>
            <a:chExt cx="1920240" cy="34747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920240" cy="347472"/>
            </a:xfrm>
            <a:custGeom>
              <a:avLst/>
              <a:gdLst/>
              <a:ahLst/>
              <a:cxnLst/>
              <a:rect r="r" b="b" t="t" l="l"/>
              <a:pathLst>
                <a:path h="34747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192024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Juan Pérez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7875041" y="5280660"/>
            <a:ext cx="1028700" cy="260604"/>
            <a:chOff x="0" y="0"/>
            <a:chExt cx="1371600" cy="34747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371600" cy="347472"/>
            </a:xfrm>
            <a:custGeom>
              <a:avLst/>
              <a:gdLst/>
              <a:ahLst/>
              <a:cxnLst/>
              <a:rect r="r" b="b" t="t" l="l"/>
              <a:pathLst>
                <a:path h="34747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137160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Vehículo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8972321" y="5280660"/>
            <a:ext cx="1440180" cy="260604"/>
            <a:chOff x="0" y="0"/>
            <a:chExt cx="1920240" cy="34747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920240" cy="347472"/>
            </a:xfrm>
            <a:custGeom>
              <a:avLst/>
              <a:gdLst/>
              <a:ahLst/>
              <a:cxnLst/>
              <a:rect r="r" b="b" t="t" l="l"/>
              <a:pathLst>
                <a:path h="34747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192024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Patente HXRT-21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865516" y="5874639"/>
            <a:ext cx="2556510" cy="512826"/>
            <a:chOff x="0" y="0"/>
            <a:chExt cx="3408680" cy="68376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408680" cy="683768"/>
            </a:xfrm>
            <a:custGeom>
              <a:avLst/>
              <a:gdLst/>
              <a:ahLst/>
              <a:cxnLst/>
              <a:rect r="r" b="b" t="t" l="l"/>
              <a:pathLst>
                <a:path h="683768" w="340868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3066796" y="0"/>
                  </a:lnTo>
                  <a:cubicBezTo>
                    <a:pt x="3255645" y="0"/>
                    <a:pt x="3408680" y="153035"/>
                    <a:pt x="3408680" y="341884"/>
                  </a:cubicBezTo>
                  <a:cubicBezTo>
                    <a:pt x="3408680" y="530733"/>
                    <a:pt x="3255645" y="683768"/>
                    <a:pt x="306679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7875041" y="5884164"/>
            <a:ext cx="2537460" cy="493776"/>
            <a:chOff x="0" y="0"/>
            <a:chExt cx="3383280" cy="65836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383280" cy="658368"/>
            </a:xfrm>
            <a:custGeom>
              <a:avLst/>
              <a:gdLst/>
              <a:ahLst/>
              <a:cxnLst/>
              <a:rect r="r" b="b" t="t" l="l"/>
              <a:pathLst>
                <a:path h="658368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131" r="0" b="-5013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338328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 código QR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363096" y="2294763"/>
            <a:ext cx="3242310" cy="5985510"/>
            <a:chOff x="0" y="0"/>
            <a:chExt cx="4323080" cy="79806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323080" cy="7980680"/>
            </a:xfrm>
            <a:custGeom>
              <a:avLst/>
              <a:gdLst/>
              <a:ahLst/>
              <a:cxnLst/>
              <a:rect r="r" b="b" t="t" l="l"/>
              <a:pathLst>
                <a:path h="7980680" w="4323080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lnTo>
                    <a:pt x="3918331" y="0"/>
                  </a:lnTo>
                  <a:cubicBezTo>
                    <a:pt x="4141851" y="0"/>
                    <a:pt x="4323080" y="181229"/>
                    <a:pt x="4323080" y="404749"/>
                  </a:cubicBezTo>
                  <a:lnTo>
                    <a:pt x="4323080" y="7575931"/>
                  </a:lnTo>
                  <a:cubicBezTo>
                    <a:pt x="4323080" y="7799451"/>
                    <a:pt x="4141851" y="7980680"/>
                    <a:pt x="3918331" y="7980680"/>
                  </a:cubicBezTo>
                  <a:lnTo>
                    <a:pt x="404749" y="7980680"/>
                  </a:lnTo>
                  <a:cubicBezTo>
                    <a:pt x="181229" y="7980680"/>
                    <a:pt x="0" y="7799451"/>
                    <a:pt x="0" y="7575931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459108" y="2390775"/>
            <a:ext cx="3050286" cy="5793486"/>
            <a:chOff x="0" y="0"/>
            <a:chExt cx="4067048" cy="77246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067048" cy="7724648"/>
            </a:xfrm>
            <a:custGeom>
              <a:avLst/>
              <a:gdLst/>
              <a:ahLst/>
              <a:cxnLst/>
              <a:rect r="r" b="b" t="t" l="l"/>
              <a:pathLst>
                <a:path h="7724648" w="4067048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3772535" y="0"/>
                  </a:lnTo>
                  <a:cubicBezTo>
                    <a:pt x="3935095" y="0"/>
                    <a:pt x="4067048" y="131826"/>
                    <a:pt x="4067048" y="294513"/>
                  </a:cubicBezTo>
                  <a:lnTo>
                    <a:pt x="4067048" y="7430135"/>
                  </a:lnTo>
                  <a:cubicBezTo>
                    <a:pt x="4067048" y="7592695"/>
                    <a:pt x="3935222" y="7724648"/>
                    <a:pt x="3772535" y="7724648"/>
                  </a:cubicBezTo>
                  <a:lnTo>
                    <a:pt x="294513" y="7724648"/>
                  </a:lnTo>
                  <a:cubicBezTo>
                    <a:pt x="131826" y="7724648"/>
                    <a:pt x="0" y="7592822"/>
                    <a:pt x="0" y="74301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468633" y="2441448"/>
            <a:ext cx="3031236" cy="274320"/>
            <a:chOff x="0" y="0"/>
            <a:chExt cx="4041648" cy="36576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041648" cy="365760"/>
            </a:xfrm>
            <a:custGeom>
              <a:avLst/>
              <a:gdLst/>
              <a:ahLst/>
              <a:cxnLst/>
              <a:rect r="r" b="b" t="t" l="l"/>
              <a:pathLst>
                <a:path h="36576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309" r="0" b="-165309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4041648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9:41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578361" y="2784348"/>
            <a:ext cx="2811780" cy="329184"/>
            <a:chOff x="0" y="0"/>
            <a:chExt cx="3749040" cy="43891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749040" cy="438912"/>
            </a:xfrm>
            <a:custGeom>
              <a:avLst/>
              <a:gdLst/>
              <a:ahLst/>
              <a:cxnLst/>
              <a:rect r="r" b="b" t="t" l="l"/>
              <a:pathLst>
                <a:path h="438912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37490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‹  Escanear código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1705996" y="3227451"/>
            <a:ext cx="2556510" cy="2556510"/>
            <a:chOff x="0" y="0"/>
            <a:chExt cx="3408680" cy="34086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4086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340868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3224403" y="0"/>
                  </a:lnTo>
                  <a:cubicBezTo>
                    <a:pt x="3326130" y="0"/>
                    <a:pt x="3408680" y="82550"/>
                    <a:pt x="3408680" y="184277"/>
                  </a:cubicBezTo>
                  <a:lnTo>
                    <a:pt x="3408680" y="3224403"/>
                  </a:lnTo>
                  <a:cubicBezTo>
                    <a:pt x="3408680" y="3326130"/>
                    <a:pt x="3326130" y="3408680"/>
                    <a:pt x="3224403" y="3408680"/>
                  </a:cubicBezTo>
                  <a:lnTo>
                    <a:pt x="184277" y="3408680"/>
                  </a:lnTo>
                  <a:cubicBezTo>
                    <a:pt x="82550" y="3408680"/>
                    <a:pt x="0" y="3326130"/>
                    <a:pt x="0" y="3224403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288926" y="3810381"/>
            <a:ext cx="1390650" cy="1390650"/>
            <a:chOff x="0" y="0"/>
            <a:chExt cx="1854200" cy="18542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1F3A66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12504191" y="4025646"/>
            <a:ext cx="960120" cy="960120"/>
            <a:chOff x="0" y="0"/>
            <a:chExt cx="1280160" cy="1280160"/>
          </a:xfrm>
        </p:grpSpPr>
        <p:sp>
          <p:nvSpPr>
            <p:cNvPr name="Freeform 113" id="113" descr="/home/claude/work/icons/qrcode_amber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1715521" y="5870448"/>
            <a:ext cx="2537460" cy="617220"/>
            <a:chOff x="0" y="0"/>
            <a:chExt cx="3383280" cy="82296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383280" cy="822960"/>
            </a:xfrm>
            <a:custGeom>
              <a:avLst/>
              <a:gdLst/>
              <a:ahLst/>
              <a:cxnLst/>
              <a:rect r="r" b="b" t="t" l="l"/>
              <a:pathLst>
                <a:path h="8229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105" r="0" b="-30105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28575"/>
              <a:ext cx="338328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23"/>
                </a:lnSpc>
              </a:pPr>
              <a:r>
                <a:rPr lang="en-US" sz="1019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Apunta la cámara al código QR</a:t>
              </a:r>
            </a:p>
            <a:p>
              <a:pPr algn="ctr">
                <a:lnSpc>
                  <a:spcPts val="1223"/>
                </a:lnSpc>
              </a:pPr>
              <a:r>
                <a:rPr lang="en-US" sz="1019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 conductor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1705996" y="6930771"/>
            <a:ext cx="2556510" cy="704850"/>
            <a:chOff x="0" y="0"/>
            <a:chExt cx="3408680" cy="9398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408680" cy="939800"/>
            </a:xfrm>
            <a:custGeom>
              <a:avLst/>
              <a:gdLst/>
              <a:ahLst/>
              <a:cxnLst/>
              <a:rect r="r" b="b" t="t" l="l"/>
              <a:pathLst>
                <a:path h="939800" w="340868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3258312" y="0"/>
                  </a:lnTo>
                  <a:cubicBezTo>
                    <a:pt x="3341370" y="0"/>
                    <a:pt x="3408680" y="67310"/>
                    <a:pt x="3408680" y="150368"/>
                  </a:cubicBezTo>
                  <a:lnTo>
                    <a:pt x="3408680" y="789432"/>
                  </a:lnTo>
                  <a:cubicBezTo>
                    <a:pt x="3408680" y="872490"/>
                    <a:pt x="3341370" y="939800"/>
                    <a:pt x="3258312" y="939800"/>
                  </a:cubicBezTo>
                  <a:lnTo>
                    <a:pt x="150368" y="939800"/>
                  </a:lnTo>
                  <a:cubicBezTo>
                    <a:pt x="67310" y="939800"/>
                    <a:pt x="0" y="872490"/>
                    <a:pt x="0" y="789432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11715521" y="7008876"/>
            <a:ext cx="2537460" cy="329184"/>
            <a:chOff x="0" y="0"/>
            <a:chExt cx="3383280" cy="43891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383280" cy="438912"/>
            </a:xfrm>
            <a:custGeom>
              <a:avLst/>
              <a:gdLst/>
              <a:ahLst/>
              <a:cxnLst/>
              <a:rect r="r" b="b" t="t" l="l"/>
              <a:pathLst>
                <a:path h="438912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9050"/>
              <a:ext cx="338328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0E6E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Asistencia OK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715521" y="7324344"/>
            <a:ext cx="2537460" cy="274320"/>
            <a:chOff x="0" y="0"/>
            <a:chExt cx="3383280" cy="3657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383280" cy="365760"/>
            </a:xfrm>
            <a:custGeom>
              <a:avLst/>
              <a:gdLst/>
              <a:ahLst/>
              <a:cxnLst/>
              <a:rect r="r" b="b" t="t" l="l"/>
              <a:pathLst>
                <a:path h="3657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28575"/>
              <a:ext cx="33832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16"/>
                </a:lnSpc>
              </a:pPr>
              <a:r>
                <a:rPr lang="en-US" sz="930">
                  <a:solidFill>
                    <a:srgbClr val="0E6E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Escaneo válido a las 07:32 hrs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3691661" y="8490204"/>
            <a:ext cx="3223260" cy="384048"/>
            <a:chOff x="0" y="0"/>
            <a:chExt cx="4297680" cy="51206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297680" cy="512064"/>
            </a:xfrm>
            <a:custGeom>
              <a:avLst/>
              <a:gdLst/>
              <a:ahLst/>
              <a:cxnLst/>
              <a:rect r="r" b="b" t="t" l="l"/>
              <a:pathLst>
                <a:path h="512064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535" r="0" b="-113535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2976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i="true">
                  <a:solidFill>
                    <a:srgbClr val="5B6B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Login pasajero / conductor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7532141" y="8490204"/>
            <a:ext cx="3223260" cy="384048"/>
            <a:chOff x="0" y="0"/>
            <a:chExt cx="4297680" cy="51206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297680" cy="512064"/>
            </a:xfrm>
            <a:custGeom>
              <a:avLst/>
              <a:gdLst/>
              <a:ahLst/>
              <a:cxnLst/>
              <a:rect r="r" b="b" t="t" l="l"/>
              <a:pathLst>
                <a:path h="512064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535" r="0" b="-113535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42976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i="true">
                  <a:solidFill>
                    <a:srgbClr val="5B6B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Detalle del servicio asignado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1372621" y="8490204"/>
            <a:ext cx="3223260" cy="384048"/>
            <a:chOff x="0" y="0"/>
            <a:chExt cx="4297680" cy="51206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297680" cy="512064"/>
            </a:xfrm>
            <a:custGeom>
              <a:avLst/>
              <a:gdLst/>
              <a:ahLst/>
              <a:cxnLst/>
              <a:rect r="r" b="b" t="t" l="l"/>
              <a:pathLst>
                <a:path h="512064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535" r="0" b="-113535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42976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i="true">
                  <a:solidFill>
                    <a:srgbClr val="5B6B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Escaneo y confirmación QR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6328410" cy="10306050"/>
            <a:chOff x="0" y="0"/>
            <a:chExt cx="843788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3788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8437880">
                  <a:moveTo>
                    <a:pt x="0" y="0"/>
                  </a:moveTo>
                  <a:lnTo>
                    <a:pt x="8437880" y="0"/>
                  </a:lnTo>
                  <a:lnTo>
                    <a:pt x="8437880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26340">
            <a:off x="1220095" y="1842135"/>
            <a:ext cx="3732000" cy="0"/>
          </a:xfrm>
          <a:prstGeom prst="line">
            <a:avLst/>
          </a:prstGeom>
          <a:ln cap="rnd" w="19050">
            <a:solidFill>
              <a:srgbClr val="5C709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163193" y="1780413"/>
            <a:ext cx="142494" cy="142494"/>
            <a:chOff x="0" y="0"/>
            <a:chExt cx="189992" cy="1899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397633" y="1780413"/>
            <a:ext cx="142494" cy="142494"/>
            <a:chOff x="0" y="0"/>
            <a:chExt cx="189992" cy="189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632073" y="1780413"/>
            <a:ext cx="142494" cy="142494"/>
            <a:chOff x="0" y="0"/>
            <a:chExt cx="189992" cy="1899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866513" y="1780413"/>
            <a:ext cx="142494" cy="142494"/>
            <a:chOff x="0" y="0"/>
            <a:chExt cx="189992" cy="1899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73555" y="3488055"/>
            <a:ext cx="2762250" cy="2762250"/>
            <a:chOff x="0" y="0"/>
            <a:chExt cx="3683000" cy="368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83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1F3A66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468880" y="4183380"/>
            <a:ext cx="1371600" cy="1371600"/>
            <a:chOff x="0" y="0"/>
            <a:chExt cx="1828800" cy="1828800"/>
          </a:xfrm>
        </p:grpSpPr>
        <p:sp>
          <p:nvSpPr>
            <p:cNvPr name="Freeform 16" id="16" descr="/home/claude/work/icons/handshake_amber.png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94473" y="3208972"/>
            <a:ext cx="3320415" cy="3320415"/>
            <a:chOff x="0" y="0"/>
            <a:chExt cx="4427220" cy="44272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27220" cy="4427220"/>
            </a:xfrm>
            <a:custGeom>
              <a:avLst/>
              <a:gdLst/>
              <a:ahLst/>
              <a:cxnLst/>
              <a:rect r="r" b="b" t="t" l="l"/>
              <a:pathLst>
                <a:path h="4427220" w="4427220">
                  <a:moveTo>
                    <a:pt x="0" y="2213610"/>
                  </a:moveTo>
                  <a:cubicBezTo>
                    <a:pt x="0" y="991108"/>
                    <a:pt x="991108" y="0"/>
                    <a:pt x="2213610" y="0"/>
                  </a:cubicBezTo>
                  <a:cubicBezTo>
                    <a:pt x="3436112" y="0"/>
                    <a:pt x="4427220" y="991108"/>
                    <a:pt x="4427220" y="2213610"/>
                  </a:cubicBezTo>
                  <a:cubicBezTo>
                    <a:pt x="4427220" y="3436112"/>
                    <a:pt x="3436112" y="4427220"/>
                    <a:pt x="2213610" y="4427220"/>
                  </a:cubicBezTo>
                  <a:cubicBezTo>
                    <a:pt x="991108" y="4427220"/>
                    <a:pt x="0" y="3436112"/>
                    <a:pt x="0" y="221361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8575" cap="sq">
              <a:solidFill>
                <a:srgbClr val="FF8C42"/>
              </a:solidFill>
              <a:prstDash val="dash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995160" y="3497580"/>
            <a:ext cx="9875520" cy="1508760"/>
            <a:chOff x="0" y="0"/>
            <a:chExt cx="13167360" cy="2011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67361" cy="2011680"/>
            </a:xfrm>
            <a:custGeom>
              <a:avLst/>
              <a:gdLst/>
              <a:ahLst/>
              <a:cxnLst/>
              <a:rect r="r" b="b" t="t" l="l"/>
              <a:pathLst>
                <a:path h="201168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538" r="0" b="-7753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316736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¡Gracias!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995160" y="4869180"/>
            <a:ext cx="9875520" cy="685800"/>
            <a:chOff x="0" y="0"/>
            <a:chExt cx="1316736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67361" cy="914400"/>
            </a:xfrm>
            <a:custGeom>
              <a:avLst/>
              <a:gdLst/>
              <a:ahLst/>
              <a:cxnLst/>
              <a:rect r="r" b="b" t="t" l="l"/>
              <a:pathLst>
                <a:path h="91440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584" r="0" b="-23058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31673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AEBB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Plataforma Integral para la Gestión de Transporte de Personal  ·  Fase 1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15360">
            <a:off x="6985616" y="5824538"/>
            <a:ext cx="4271048" cy="0"/>
          </a:xfrm>
          <a:prstGeom prst="line">
            <a:avLst/>
          </a:prstGeom>
          <a:ln cap="rnd" w="9525">
            <a:solidFill>
              <a:srgbClr val="3E558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6995160" y="6103620"/>
            <a:ext cx="9601200" cy="548640"/>
            <a:chOff x="0" y="0"/>
            <a:chExt cx="128016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2801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Angelina Mendoza  ·  Paloma Tamayo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95160" y="6652260"/>
            <a:ext cx="9601200" cy="548640"/>
            <a:chOff x="0" y="0"/>
            <a:chExt cx="128016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01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2801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FF8C4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¿Preguntas?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DAHTzz2nyhs</dc:identifier>
  <dcterms:modified xsi:type="dcterms:W3CDTF">2011-08-01T06:04:30Z</dcterms:modified>
  <cp:revision>1</cp:revision>
  <dc:title>Aprueba: Hugo Mayorga</dc:title>
</cp:coreProperties>
</file>